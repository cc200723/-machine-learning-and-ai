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5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6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7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8.xml" ContentType="application/vnd.openxmlformats-officedocument.theme+xml"/>
  <Override PartName="/ppt/slideLayouts/slideLayout38.xml" ContentType="application/vnd.openxmlformats-officedocument.presentationml.slideLayout+xml"/>
  <Override PartName="/ppt/theme/theme9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10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15.xml" ContentType="application/vnd.openxmlformats-officedocument.theme+xml"/>
  <Override PartName="/ppt/slideLayouts/slideLayout55.xml" ContentType="application/vnd.openxmlformats-officedocument.presentationml.slideLayout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1" r:id="rId1"/>
    <p:sldMasterId id="2147483680" r:id="rId2"/>
    <p:sldMasterId id="2147483683" r:id="rId3"/>
    <p:sldMasterId id="2147483686" r:id="rId4"/>
    <p:sldMasterId id="2147483689" r:id="rId5"/>
    <p:sldMasterId id="2147483692" r:id="rId6"/>
    <p:sldMasterId id="2147483699" r:id="rId7"/>
    <p:sldMasterId id="2147483705" r:id="rId8"/>
    <p:sldMasterId id="2147483712" r:id="rId9"/>
    <p:sldMasterId id="2147483714" r:id="rId10"/>
    <p:sldMasterId id="2147483720" r:id="rId11"/>
    <p:sldMasterId id="2147483732" r:id="rId12"/>
    <p:sldMasterId id="2147483734" r:id="rId13"/>
    <p:sldMasterId id="2147483738" r:id="rId14"/>
    <p:sldMasterId id="2147483740" r:id="rId15"/>
    <p:sldMasterId id="2147483751" r:id="rId16"/>
  </p:sldMasterIdLst>
  <p:notesMasterIdLst>
    <p:notesMasterId r:id="rId28"/>
  </p:notesMasterIdLst>
  <p:sldIdLst>
    <p:sldId id="11088582" r:id="rId17"/>
    <p:sldId id="11088583" r:id="rId18"/>
    <p:sldId id="11088584" r:id="rId19"/>
    <p:sldId id="11088546" r:id="rId20"/>
    <p:sldId id="11088548" r:id="rId21"/>
    <p:sldId id="11088606" r:id="rId22"/>
    <p:sldId id="11088549" r:id="rId23"/>
    <p:sldId id="11088607" r:id="rId24"/>
    <p:sldId id="11088608" r:id="rId25"/>
    <p:sldId id="11088609" r:id="rId26"/>
    <p:sldId id="11088602" r:id="rId27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7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ohaiying (Dorothy)" initials="Z(" lastIdx="95" clrIdx="0">
    <p:extLst>
      <p:ext uri="{19B8F6BF-5375-455C-9EA6-DF929625EA0E}">
        <p15:presenceInfo xmlns:p15="http://schemas.microsoft.com/office/powerpoint/2012/main" userId="S-1-5-21-147214757-305610072-1517763936-260883" providerId="AD"/>
      </p:ext>
    </p:extLst>
  </p:cmAuthor>
  <p:cmAuthor id="2" name="翁文康YMH" initials="YMH" lastIdx="4" clrIdx="1">
    <p:extLst>
      <p:ext uri="{19B8F6BF-5375-455C-9EA6-DF929625EA0E}">
        <p15:presenceInfo xmlns:p15="http://schemas.microsoft.com/office/powerpoint/2012/main" userId="翁文康YMH" providerId="None"/>
      </p:ext>
    </p:extLst>
  </p:cmAuthor>
  <p:cmAuthor id="3" name="Zhangkai (Zeal Zhangkai)" initials="Z(Z" lastIdx="1" clrIdx="2">
    <p:extLst>
      <p:ext uri="{19B8F6BF-5375-455C-9EA6-DF929625EA0E}">
        <p15:presenceInfo xmlns:p15="http://schemas.microsoft.com/office/powerpoint/2012/main" userId="S-1-5-21-147214757-305610072-1517763936-23197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000FF"/>
    <a:srgbClr val="99CCFF"/>
    <a:srgbClr val="3399FF"/>
    <a:srgbClr val="34AC8B"/>
    <a:srgbClr val="00CC99"/>
    <a:srgbClr val="FB8D33"/>
    <a:srgbClr val="003399"/>
    <a:srgbClr val="3333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97" autoAdjust="0"/>
    <p:restoredTop sz="91744" autoAdjust="0"/>
  </p:normalViewPr>
  <p:slideViewPr>
    <p:cSldViewPr snapToGrid="0">
      <p:cViewPr varScale="1">
        <p:scale>
          <a:sx n="120" d="100"/>
          <a:sy n="120" d="100"/>
        </p:scale>
        <p:origin x="1216" y="176"/>
      </p:cViewPr>
      <p:guideLst>
        <p:guide orient="horz" pos="2183"/>
        <p:guide pos="3875"/>
      </p:guideLst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2.xml"/><Relationship Id="rId26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5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1.xml"/><Relationship Id="rId25" Type="http://schemas.openxmlformats.org/officeDocument/2006/relationships/slide" Target="slides/slide9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4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8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7.xml"/><Relationship Id="rId28" Type="http://schemas.openxmlformats.org/officeDocument/2006/relationships/notesMaster" Target="notesMasters/notesMaster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3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6.xml"/><Relationship Id="rId27" Type="http://schemas.openxmlformats.org/officeDocument/2006/relationships/slide" Target="slides/slide11.xml"/><Relationship Id="rId30" Type="http://schemas.openxmlformats.org/officeDocument/2006/relationships/commentAuthors" Target="commentAuthors.xml"/><Relationship Id="rId8" Type="http://schemas.openxmlformats.org/officeDocument/2006/relationships/slideMaster" Target="slideMasters/slideMaster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93B942-B491-4E2C-8DA6-582EB0035861}" type="datetimeFigureOut">
              <a:rPr lang="zh-CN" altLang="en-US" smtClean="0"/>
              <a:t>2023/10/21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F9D0A5-F34A-4FFF-9E93-E1A7A73877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382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F9D0A5-F34A-4FFF-9E93-E1A7A738774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4853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F9D0A5-F34A-4FFF-9E93-E1A7A738774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620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F9D0A5-F34A-4FFF-9E93-E1A7A738774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2858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F9D0A5-F34A-4FFF-9E93-E1A7A738774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7405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F9D0A5-F34A-4FFF-9E93-E1A7A738774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1470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通过“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+=”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的方式可以轻松地将量子门添加到量子线路中。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F9D0A5-F34A-4FFF-9E93-E1A7A738774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72103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Measure</a:t>
            </a: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与量子门类似，可以用“</a:t>
            </a:r>
            <a:r>
              <a:rPr lang="en-US" altLang="zh-CN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+=</a:t>
            </a: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”的方式添加到量子线路中，用</a:t>
            </a:r>
            <a:r>
              <a:rPr lang="en-US" altLang="zh-CN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on()</a:t>
            </a: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方法指定目标比特。</a:t>
            </a:r>
            <a:endParaRPr lang="en-US" altLang="zh-CN" sz="120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F9D0A5-F34A-4FFF-9E93-E1A7A738774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64822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F9D0A5-F34A-4FFF-9E93-E1A7A738774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5175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88" indent="0" algn="ctr">
              <a:buNone/>
              <a:defRPr sz="2594"/>
            </a:lvl2pPr>
            <a:lvl3pPr marL="1186340" indent="0" algn="ctr">
              <a:buNone/>
              <a:defRPr sz="2334"/>
            </a:lvl3pPr>
            <a:lvl4pPr marL="1779828" indent="0" algn="ctr">
              <a:buNone/>
              <a:defRPr sz="2074"/>
            </a:lvl4pPr>
            <a:lvl5pPr marL="2372681" indent="0" algn="ctr">
              <a:buNone/>
              <a:defRPr sz="2074"/>
            </a:lvl5pPr>
            <a:lvl6pPr marL="2966168" indent="0" algn="ctr">
              <a:buNone/>
              <a:defRPr sz="2074"/>
            </a:lvl6pPr>
            <a:lvl7pPr marL="3559021" indent="0" algn="ctr">
              <a:buNone/>
              <a:defRPr sz="2074"/>
            </a:lvl7pPr>
            <a:lvl8pPr marL="4152508" indent="0" algn="ctr">
              <a:buNone/>
              <a:defRPr sz="2074"/>
            </a:lvl8pPr>
            <a:lvl9pPr marL="4745361" indent="0" algn="ctr">
              <a:buNone/>
              <a:defRPr sz="2074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475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03802" y="373878"/>
            <a:ext cx="10516255" cy="715149"/>
          </a:xfrm>
          <a:prstGeom prst="rect">
            <a:avLst/>
          </a:prstGeom>
        </p:spPr>
        <p:txBody>
          <a:bodyPr/>
          <a:lstStyle>
            <a:lvl1pPr marL="0" algn="l" defTabSz="914034" rtl="0" eaLnBrk="1" latinLnBrk="0" hangingPunct="1">
              <a:defRPr kumimoji="1" lang="zh-CN" altLang="en-US" sz="2399" b="1" kern="1200" dirty="0">
                <a:solidFill>
                  <a:schemeClr val="bg1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84356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91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466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734133" y="6402806"/>
            <a:ext cx="141040" cy="138456"/>
          </a:xfrm>
          <a:prstGeom prst="rect">
            <a:avLst/>
          </a:prstGeom>
        </p:spPr>
        <p:txBody>
          <a:bodyPr lIns="0" tIns="0" rIns="0" bIns="0" anchor="t"/>
          <a:lstStyle>
            <a:lvl1pPr algn="l" defTabSz="889914">
              <a:defRPr sz="900">
                <a:solidFill>
                  <a:srgbClr val="1D1D1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689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82153" y="477355"/>
            <a:ext cx="10924197" cy="584778"/>
          </a:xfrm>
          <a:prstGeom prst="rect">
            <a:avLst/>
          </a:prstGeom>
        </p:spPr>
        <p:txBody>
          <a:bodyPr lIns="45714" tIns="45714" rIns="45714" bIns="45714">
            <a:normAutofit/>
          </a:bodyPr>
          <a:lstStyle>
            <a:lvl1pPr defTabSz="1186340">
              <a:lnSpc>
                <a:spcPct val="90000"/>
              </a:lnSpc>
              <a:defRPr sz="3099" b="1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标题文本</a:t>
            </a:r>
          </a:p>
        </p:txBody>
      </p:sp>
    </p:spTree>
    <p:extLst>
      <p:ext uri="{BB962C8B-B14F-4D97-AF65-F5344CB8AC3E}">
        <p14:creationId xmlns:p14="http://schemas.microsoft.com/office/powerpoint/2010/main" val="397098525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355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5052913"/>
            <a:ext cx="12192000" cy="18050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>
              <a:solidFill>
                <a:srgbClr val="FFFFFF"/>
              </a:solidFill>
            </a:endParaRPr>
          </a:p>
        </p:txBody>
      </p:sp>
      <p:sp>
        <p:nvSpPr>
          <p:cNvPr id="8" name="Text Placeholder 1"/>
          <p:cNvSpPr txBox="1"/>
          <p:nvPr userDrawn="1"/>
        </p:nvSpPr>
        <p:spPr>
          <a:xfrm>
            <a:off x="7978318" y="2794960"/>
            <a:ext cx="322474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dirty="0">
                <a:solidFill>
                  <a:srgbClr val="1D1D1B"/>
                </a:solidFill>
                <a:latin typeface="Arial" panose="020B0604020202020204"/>
              </a:rPr>
              <a:t>Copyright©2018 Huawei Technologies Co., Ltd.</a:t>
            </a:r>
            <a:br>
              <a:rPr kumimoji="1" lang="en-US" altLang="zh-CN" sz="850" b="1" dirty="0">
                <a:solidFill>
                  <a:srgbClr val="1D1D1B"/>
                </a:solidFill>
                <a:latin typeface="Arial" panose="020B0604020202020204"/>
              </a:rPr>
            </a:br>
            <a:r>
              <a:rPr kumimoji="1" lang="en-US" altLang="zh-CN" sz="850" b="1" dirty="0">
                <a:solidFill>
                  <a:srgbClr val="1D1D1B"/>
                </a:solidFill>
                <a:latin typeface="Arial" panose="020B0604020202020204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Arial" panose="020B0604020202020204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Arial" panose="020B0604020202020204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Arial" panose="020B0604020202020204"/>
            </a:endParaRPr>
          </a:p>
        </p:txBody>
      </p:sp>
      <p:sp>
        <p:nvSpPr>
          <p:cNvPr id="9" name="Subtitle 6"/>
          <p:cNvSpPr txBox="1"/>
          <p:nvPr userDrawn="1"/>
        </p:nvSpPr>
        <p:spPr>
          <a:xfrm>
            <a:off x="7986238" y="1631849"/>
            <a:ext cx="3477249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79"/>
              </a:lnSpc>
              <a:spcBef>
                <a:spcPts val="0"/>
              </a:spcBef>
            </a:pPr>
            <a:r>
              <a:rPr kumimoji="1" lang="zh-CN" altLang="en-US" sz="1299" dirty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把数字世界带入每个人、每个家庭、</a:t>
            </a:r>
            <a:br>
              <a:rPr kumimoji="1" lang="en-US" altLang="zh-CN" sz="1299" dirty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</a:br>
            <a:r>
              <a:rPr kumimoji="1" lang="zh-CN" altLang="en-US" sz="1299" dirty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10" name="Subtitle 6"/>
          <p:cNvSpPr txBox="1"/>
          <p:nvPr userDrawn="1"/>
        </p:nvSpPr>
        <p:spPr>
          <a:xfrm>
            <a:off x="7976634" y="2106124"/>
            <a:ext cx="3481380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89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Arial" panose="020B0604020202020204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" name="TextBox 3"/>
          <p:cNvSpPr txBox="1"/>
          <p:nvPr userDrawn="1"/>
        </p:nvSpPr>
        <p:spPr>
          <a:xfrm>
            <a:off x="607409" y="1402067"/>
            <a:ext cx="3920523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93" dirty="0">
                <a:solidFill>
                  <a:srgbClr val="282828"/>
                </a:solidFill>
              </a:rPr>
              <a:t>Thank you.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372485" y="6515947"/>
            <a:ext cx="426664" cy="2302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>
              <a:solidFill>
                <a:srgbClr val="FFFFFF"/>
              </a:solidFill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10202699" y="6488855"/>
            <a:ext cx="1682955" cy="2302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>
              <a:solidFill>
                <a:srgbClr val="FFFFF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7986236" y="5251410"/>
            <a:ext cx="1871756" cy="40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227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918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5052915"/>
            <a:ext cx="12192000" cy="18050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4">
              <a:solidFill>
                <a:srgbClr val="FFFFFF"/>
              </a:solidFill>
            </a:endParaRPr>
          </a:p>
        </p:txBody>
      </p:sp>
      <p:sp>
        <p:nvSpPr>
          <p:cNvPr id="8" name="Text Placeholder 1"/>
          <p:cNvSpPr txBox="1"/>
          <p:nvPr userDrawn="1"/>
        </p:nvSpPr>
        <p:spPr>
          <a:xfrm>
            <a:off x="7978318" y="2794960"/>
            <a:ext cx="322474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dirty="0">
                <a:solidFill>
                  <a:srgbClr val="1D1D1B"/>
                </a:solidFill>
                <a:latin typeface="Arial" panose="020B0604020202020204"/>
              </a:rPr>
              <a:t>Copyright©2018 Huawei Technologies Co., Ltd.</a:t>
            </a:r>
            <a:br>
              <a:rPr kumimoji="1" lang="en-US" altLang="zh-CN" sz="850" b="1" dirty="0">
                <a:solidFill>
                  <a:srgbClr val="1D1D1B"/>
                </a:solidFill>
                <a:latin typeface="Arial" panose="020B0604020202020204"/>
              </a:rPr>
            </a:br>
            <a:r>
              <a:rPr kumimoji="1" lang="en-US" altLang="zh-CN" sz="850" b="1" dirty="0">
                <a:solidFill>
                  <a:srgbClr val="1D1D1B"/>
                </a:solidFill>
                <a:latin typeface="Arial" panose="020B0604020202020204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Arial" panose="020B0604020202020204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Arial" panose="020B0604020202020204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Arial" panose="020B0604020202020204"/>
            </a:endParaRPr>
          </a:p>
        </p:txBody>
      </p:sp>
      <p:sp>
        <p:nvSpPr>
          <p:cNvPr id="9" name="Subtitle 6"/>
          <p:cNvSpPr txBox="1"/>
          <p:nvPr userDrawn="1"/>
        </p:nvSpPr>
        <p:spPr>
          <a:xfrm>
            <a:off x="7986239" y="1631849"/>
            <a:ext cx="3477249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79"/>
              </a:lnSpc>
              <a:spcBef>
                <a:spcPts val="0"/>
              </a:spcBef>
            </a:pPr>
            <a:r>
              <a:rPr kumimoji="1" lang="zh-CN" altLang="en-US" sz="1294" dirty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把数字世界带入每个人、每个家庭、</a:t>
            </a:r>
            <a:br>
              <a:rPr kumimoji="1" lang="en-US" altLang="zh-CN" sz="1294" dirty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</a:br>
            <a:r>
              <a:rPr kumimoji="1" lang="zh-CN" altLang="en-US" sz="1294" dirty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10" name="Subtitle 6"/>
          <p:cNvSpPr txBox="1"/>
          <p:nvPr userDrawn="1"/>
        </p:nvSpPr>
        <p:spPr>
          <a:xfrm>
            <a:off x="7976634" y="2106124"/>
            <a:ext cx="3481380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89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Arial" panose="020B0604020202020204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" name="TextBox 3"/>
          <p:cNvSpPr txBox="1"/>
          <p:nvPr userDrawn="1"/>
        </p:nvSpPr>
        <p:spPr>
          <a:xfrm>
            <a:off x="607410" y="1402067"/>
            <a:ext cx="3920523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93" dirty="0">
                <a:solidFill>
                  <a:srgbClr val="282828"/>
                </a:solidFill>
              </a:rPr>
              <a:t>Thank you.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372485" y="6515947"/>
            <a:ext cx="426664" cy="2302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4">
              <a:solidFill>
                <a:srgbClr val="FFFFFF"/>
              </a:solidFill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10202700" y="6488855"/>
            <a:ext cx="1682955" cy="2302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4">
              <a:solidFill>
                <a:srgbClr val="FFFFF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7986236" y="5251412"/>
            <a:ext cx="1871756" cy="40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987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5540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88" indent="0" algn="ctr">
              <a:buNone/>
              <a:defRPr sz="2594"/>
            </a:lvl2pPr>
            <a:lvl3pPr marL="1186340" indent="0" algn="ctr">
              <a:buNone/>
              <a:defRPr sz="2334"/>
            </a:lvl3pPr>
            <a:lvl4pPr marL="1779828" indent="0" algn="ctr">
              <a:buNone/>
              <a:defRPr sz="2074"/>
            </a:lvl4pPr>
            <a:lvl5pPr marL="2372681" indent="0" algn="ctr">
              <a:buNone/>
              <a:defRPr sz="2074"/>
            </a:lvl5pPr>
            <a:lvl6pPr marL="2966168" indent="0" algn="ctr">
              <a:buNone/>
              <a:defRPr sz="2074"/>
            </a:lvl6pPr>
            <a:lvl7pPr marL="3559021" indent="0" algn="ctr">
              <a:buNone/>
              <a:defRPr sz="2074"/>
            </a:lvl7pPr>
            <a:lvl8pPr marL="4152508" indent="0" algn="ctr">
              <a:buNone/>
              <a:defRPr sz="2074"/>
            </a:lvl8pPr>
            <a:lvl9pPr marL="4745361" indent="0" algn="ctr">
              <a:buNone/>
              <a:defRPr sz="2074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3" y="1193075"/>
            <a:ext cx="10729365" cy="4999374"/>
          </a:xfrm>
          <a:prstGeom prst="rect">
            <a:avLst/>
          </a:prstGeom>
        </p:spPr>
        <p:txBody>
          <a:bodyPr lIns="0" tIns="0" rIns="0" bIns="0"/>
          <a:lstStyle>
            <a:lvl1pPr marL="12060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6652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4935" indent="-170747">
              <a:buFont typeface="Arial" panose="020B0604020202020204" pitchFamily="34" charset="0"/>
              <a:buChar char="•"/>
              <a:tabLst>
                <a:tab pos="1206652" algn="ctr"/>
              </a:tabLst>
              <a:defRPr sz="1294" baseline="0"/>
            </a:lvl2pPr>
            <a:lvl3pPr marL="524935" indent="-170747">
              <a:buFont typeface="Arial" panose="020B0604020202020204" pitchFamily="34" charset="0"/>
              <a:buChar char="•"/>
              <a:tabLst>
                <a:tab pos="1206652" algn="ctr"/>
              </a:tabLst>
              <a:defRPr sz="1294" baseline="0"/>
            </a:lvl3pPr>
            <a:lvl4pPr marL="524935" indent="-170747">
              <a:buFont typeface="Arial" panose="020B0604020202020204" pitchFamily="34" charset="0"/>
              <a:buChar char="•"/>
              <a:tabLst>
                <a:tab pos="1206652" algn="ctr"/>
              </a:tabLst>
              <a:defRPr sz="1294" baseline="0"/>
            </a:lvl4pPr>
            <a:lvl5pPr marL="524935" indent="-170747">
              <a:buFont typeface="Arial" panose="020B0604020202020204" pitchFamily="34" charset="0"/>
              <a:buChar char="•"/>
              <a:tabLst>
                <a:tab pos="1206652" algn="ctr"/>
              </a:tabLst>
              <a:defRPr sz="1294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128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036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5052913"/>
            <a:ext cx="12192000" cy="18050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>
              <a:solidFill>
                <a:srgbClr val="FFFFFF"/>
              </a:solidFill>
            </a:endParaRPr>
          </a:p>
        </p:txBody>
      </p:sp>
      <p:sp>
        <p:nvSpPr>
          <p:cNvPr id="8" name="Text Placeholder 1"/>
          <p:cNvSpPr txBox="1"/>
          <p:nvPr userDrawn="1"/>
        </p:nvSpPr>
        <p:spPr>
          <a:xfrm>
            <a:off x="7978318" y="2794960"/>
            <a:ext cx="322474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dirty="0">
                <a:solidFill>
                  <a:srgbClr val="1D1D1B"/>
                </a:solidFill>
                <a:latin typeface="Arial" panose="020B0604020202020204"/>
              </a:rPr>
              <a:t>Copyright©2018 Huawei Technologies Co., Ltd.</a:t>
            </a:r>
            <a:br>
              <a:rPr kumimoji="1" lang="en-US" altLang="zh-CN" sz="850" b="1" dirty="0">
                <a:solidFill>
                  <a:srgbClr val="1D1D1B"/>
                </a:solidFill>
                <a:latin typeface="Arial" panose="020B0604020202020204"/>
              </a:rPr>
            </a:br>
            <a:r>
              <a:rPr kumimoji="1" lang="en-US" altLang="zh-CN" sz="850" b="1" dirty="0">
                <a:solidFill>
                  <a:srgbClr val="1D1D1B"/>
                </a:solidFill>
                <a:latin typeface="Arial" panose="020B0604020202020204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Arial" panose="020B0604020202020204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Arial" panose="020B0604020202020204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Arial" panose="020B0604020202020204"/>
            </a:endParaRPr>
          </a:p>
        </p:txBody>
      </p:sp>
      <p:sp>
        <p:nvSpPr>
          <p:cNvPr id="9" name="Subtitle 6"/>
          <p:cNvSpPr txBox="1"/>
          <p:nvPr userDrawn="1"/>
        </p:nvSpPr>
        <p:spPr>
          <a:xfrm>
            <a:off x="7986238" y="1631849"/>
            <a:ext cx="3477249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79"/>
              </a:lnSpc>
              <a:spcBef>
                <a:spcPts val="0"/>
              </a:spcBef>
            </a:pPr>
            <a:r>
              <a:rPr kumimoji="1" lang="zh-CN" altLang="en-US" sz="1299" dirty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把数字世界带入每个人、每个家庭、</a:t>
            </a:r>
            <a:br>
              <a:rPr kumimoji="1" lang="en-US" altLang="zh-CN" sz="1299" dirty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</a:br>
            <a:r>
              <a:rPr kumimoji="1" lang="zh-CN" altLang="en-US" sz="1299" dirty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10" name="Subtitle 6"/>
          <p:cNvSpPr txBox="1"/>
          <p:nvPr userDrawn="1"/>
        </p:nvSpPr>
        <p:spPr>
          <a:xfrm>
            <a:off x="7976634" y="2106124"/>
            <a:ext cx="3481380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89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Arial" panose="020B0604020202020204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" name="TextBox 3"/>
          <p:cNvSpPr txBox="1"/>
          <p:nvPr userDrawn="1"/>
        </p:nvSpPr>
        <p:spPr>
          <a:xfrm>
            <a:off x="607409" y="1402067"/>
            <a:ext cx="3920523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93" dirty="0">
                <a:solidFill>
                  <a:srgbClr val="282828"/>
                </a:solidFill>
              </a:rPr>
              <a:t>Thank you.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372485" y="6515947"/>
            <a:ext cx="426664" cy="2302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>
              <a:solidFill>
                <a:srgbClr val="FFFFFF"/>
              </a:solidFill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10202699" y="6488855"/>
            <a:ext cx="1682955" cy="2302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>
              <a:solidFill>
                <a:srgbClr val="FFFFF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7986236" y="5251410"/>
            <a:ext cx="1871756" cy="40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961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0864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5052913"/>
            <a:ext cx="12192000" cy="18050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>
              <a:solidFill>
                <a:srgbClr val="FFFFFF"/>
              </a:solidFill>
            </a:endParaRPr>
          </a:p>
        </p:txBody>
      </p:sp>
      <p:sp>
        <p:nvSpPr>
          <p:cNvPr id="8" name="Text Placeholder 1"/>
          <p:cNvSpPr txBox="1"/>
          <p:nvPr userDrawn="1"/>
        </p:nvSpPr>
        <p:spPr>
          <a:xfrm>
            <a:off x="7978318" y="2794960"/>
            <a:ext cx="322474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dirty="0">
                <a:solidFill>
                  <a:srgbClr val="1D1D1B"/>
                </a:solidFill>
                <a:latin typeface="Arial" panose="020B0604020202020204"/>
              </a:rPr>
              <a:t>Copyright©2018 Huawei Technologies Co., Ltd.</a:t>
            </a:r>
            <a:br>
              <a:rPr kumimoji="1" lang="en-US" altLang="zh-CN" sz="850" b="1" dirty="0">
                <a:solidFill>
                  <a:srgbClr val="1D1D1B"/>
                </a:solidFill>
                <a:latin typeface="Arial" panose="020B0604020202020204"/>
              </a:rPr>
            </a:br>
            <a:r>
              <a:rPr kumimoji="1" lang="en-US" altLang="zh-CN" sz="850" b="1" dirty="0">
                <a:solidFill>
                  <a:srgbClr val="1D1D1B"/>
                </a:solidFill>
                <a:latin typeface="Arial" panose="020B0604020202020204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Arial" panose="020B0604020202020204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Arial" panose="020B0604020202020204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Arial" panose="020B0604020202020204"/>
            </a:endParaRPr>
          </a:p>
        </p:txBody>
      </p:sp>
      <p:sp>
        <p:nvSpPr>
          <p:cNvPr id="9" name="Subtitle 6"/>
          <p:cNvSpPr txBox="1"/>
          <p:nvPr userDrawn="1"/>
        </p:nvSpPr>
        <p:spPr>
          <a:xfrm>
            <a:off x="7986238" y="1631849"/>
            <a:ext cx="3477249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79"/>
              </a:lnSpc>
              <a:spcBef>
                <a:spcPts val="0"/>
              </a:spcBef>
            </a:pPr>
            <a:r>
              <a:rPr kumimoji="1" lang="zh-CN" altLang="en-US" sz="1299" dirty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把数字世界带入每个人、每个家庭、</a:t>
            </a:r>
            <a:br>
              <a:rPr kumimoji="1" lang="en-US" altLang="zh-CN" sz="1299" dirty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</a:br>
            <a:r>
              <a:rPr kumimoji="1" lang="zh-CN" altLang="en-US" sz="1299" dirty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10" name="Subtitle 6"/>
          <p:cNvSpPr txBox="1"/>
          <p:nvPr userDrawn="1"/>
        </p:nvSpPr>
        <p:spPr>
          <a:xfrm>
            <a:off x="7976634" y="2106124"/>
            <a:ext cx="3481380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89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Arial" panose="020B0604020202020204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" name="TextBox 3"/>
          <p:cNvSpPr txBox="1"/>
          <p:nvPr userDrawn="1"/>
        </p:nvSpPr>
        <p:spPr>
          <a:xfrm>
            <a:off x="607409" y="1402067"/>
            <a:ext cx="3920523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93" dirty="0">
                <a:solidFill>
                  <a:srgbClr val="282828"/>
                </a:solidFill>
              </a:rPr>
              <a:t>Thank you.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372485" y="6515947"/>
            <a:ext cx="426664" cy="2302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>
              <a:solidFill>
                <a:srgbClr val="FFFFFF"/>
              </a:solidFill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10202699" y="6488855"/>
            <a:ext cx="1682955" cy="2302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>
              <a:solidFill>
                <a:srgbClr val="FFFFF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7986236" y="5251410"/>
            <a:ext cx="1871756" cy="40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5872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6869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5052913"/>
            <a:ext cx="12192000" cy="18050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>
              <a:solidFill>
                <a:srgbClr val="FFFFFF"/>
              </a:solidFill>
            </a:endParaRPr>
          </a:p>
        </p:txBody>
      </p:sp>
      <p:sp>
        <p:nvSpPr>
          <p:cNvPr id="8" name="Text Placeholder 1"/>
          <p:cNvSpPr txBox="1"/>
          <p:nvPr userDrawn="1"/>
        </p:nvSpPr>
        <p:spPr>
          <a:xfrm>
            <a:off x="7978318" y="2794960"/>
            <a:ext cx="322474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dirty="0">
                <a:solidFill>
                  <a:srgbClr val="1D1D1B"/>
                </a:solidFill>
                <a:latin typeface="Arial" panose="020B0604020202020204"/>
              </a:rPr>
              <a:t>Copyright©2018 Huawei Technologies Co., Ltd.</a:t>
            </a:r>
            <a:br>
              <a:rPr kumimoji="1" lang="en-US" altLang="zh-CN" sz="850" b="1" dirty="0">
                <a:solidFill>
                  <a:srgbClr val="1D1D1B"/>
                </a:solidFill>
                <a:latin typeface="Arial" panose="020B0604020202020204"/>
              </a:rPr>
            </a:br>
            <a:r>
              <a:rPr kumimoji="1" lang="en-US" altLang="zh-CN" sz="850" b="1" dirty="0">
                <a:solidFill>
                  <a:srgbClr val="1D1D1B"/>
                </a:solidFill>
                <a:latin typeface="Arial" panose="020B0604020202020204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Arial" panose="020B0604020202020204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Arial" panose="020B0604020202020204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Arial" panose="020B0604020202020204"/>
            </a:endParaRPr>
          </a:p>
        </p:txBody>
      </p:sp>
      <p:sp>
        <p:nvSpPr>
          <p:cNvPr id="9" name="Subtitle 6"/>
          <p:cNvSpPr txBox="1"/>
          <p:nvPr userDrawn="1"/>
        </p:nvSpPr>
        <p:spPr>
          <a:xfrm>
            <a:off x="7986238" y="1631849"/>
            <a:ext cx="3477249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79"/>
              </a:lnSpc>
              <a:spcBef>
                <a:spcPts val="0"/>
              </a:spcBef>
            </a:pPr>
            <a:r>
              <a:rPr kumimoji="1" lang="zh-CN" altLang="en-US" sz="1299" dirty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把数字世界带入每个人、每个家庭、</a:t>
            </a:r>
            <a:br>
              <a:rPr kumimoji="1" lang="en-US" altLang="zh-CN" sz="1299" dirty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</a:br>
            <a:r>
              <a:rPr kumimoji="1" lang="zh-CN" altLang="en-US" sz="1299" dirty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10" name="Subtitle 6"/>
          <p:cNvSpPr txBox="1"/>
          <p:nvPr userDrawn="1"/>
        </p:nvSpPr>
        <p:spPr>
          <a:xfrm>
            <a:off x="7976634" y="2106124"/>
            <a:ext cx="3481380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89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Arial" panose="020B0604020202020204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2" name="TextBox 3"/>
          <p:cNvSpPr txBox="1"/>
          <p:nvPr userDrawn="1"/>
        </p:nvSpPr>
        <p:spPr>
          <a:xfrm>
            <a:off x="607409" y="1402067"/>
            <a:ext cx="3920523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93" dirty="0">
                <a:solidFill>
                  <a:srgbClr val="282828"/>
                </a:solidFill>
              </a:rPr>
              <a:t>Thank you.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372485" y="6515947"/>
            <a:ext cx="426664" cy="2302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>
              <a:solidFill>
                <a:srgbClr val="FFFFFF"/>
              </a:solidFill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10202699" y="6488855"/>
            <a:ext cx="1682955" cy="2302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>
              <a:solidFill>
                <a:srgbClr val="FFFFF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7986236" y="5251410"/>
            <a:ext cx="1871756" cy="40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087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hy-ms-n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01" y="468000"/>
            <a:ext cx="10947378" cy="41670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2798" b="1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813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hy-ms-n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00" y="468000"/>
            <a:ext cx="10947378" cy="41670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="1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7852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7005351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5680" y="456136"/>
            <a:ext cx="10740640" cy="432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3428"/>
              </a:lnSpc>
              <a:spcBef>
                <a:spcPts val="0"/>
              </a:spcBef>
              <a:buNone/>
              <a:defRPr sz="2798" b="1" baseline="0">
                <a:solidFill>
                  <a:schemeClr val="accent1">
                    <a:lumMod val="75000"/>
                  </a:schemeClr>
                </a:solidFill>
                <a:latin typeface="(使用中文字体)"/>
                <a:ea typeface="微软雅黑" panose="020B0503020204020204" pitchFamily="34" charset="-122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8938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5738" y="1512876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31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894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605" algn="ctr"/>
              </a:tabLst>
              <a:defRPr sz="15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13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605" algn="ctr"/>
              </a:tabLst>
              <a:defRPr sz="12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894" marR="0" lvl="1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229033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hy-ms-n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01" y="468000"/>
            <a:ext cx="10947378" cy="41670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2798" b="1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0601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5680" y="456136"/>
            <a:ext cx="10740640" cy="432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3428"/>
              </a:lnSpc>
              <a:spcBef>
                <a:spcPts val="0"/>
              </a:spcBef>
              <a:buNone/>
              <a:defRPr sz="2798" b="1" baseline="0">
                <a:solidFill>
                  <a:schemeClr val="accent1">
                    <a:lumMod val="75000"/>
                  </a:schemeClr>
                </a:solidFill>
                <a:latin typeface="(使用中文字体)"/>
                <a:ea typeface="微软雅黑" panose="020B0503020204020204" pitchFamily="34" charset="-122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8168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2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484312"/>
            <a:ext cx="11293476" cy="4443243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39485895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047750"/>
            <a:ext cx="11293475" cy="4879805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386098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orient="horz" pos="66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492453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2438" y="447468"/>
            <a:ext cx="11296649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87336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56832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hy-ms-n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00" y="468000"/>
            <a:ext cx="10947378" cy="41670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="1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3259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5"/>
            <a:ext cx="10736447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48" indent="0" algn="ctr">
              <a:buNone/>
              <a:defRPr sz="2597"/>
            </a:lvl2pPr>
            <a:lvl3pPr marL="1187293" indent="0" algn="ctr">
              <a:buNone/>
              <a:defRPr sz="2337"/>
            </a:lvl3pPr>
            <a:lvl4pPr marL="1780942" indent="0" algn="ctr">
              <a:buNone/>
              <a:defRPr sz="2079"/>
            </a:lvl4pPr>
            <a:lvl5pPr marL="2374589" indent="0" algn="ctr">
              <a:buNone/>
              <a:defRPr sz="2079"/>
            </a:lvl5pPr>
            <a:lvl6pPr marL="2968235" indent="0" algn="ctr">
              <a:buNone/>
              <a:defRPr sz="2079"/>
            </a:lvl6pPr>
            <a:lvl7pPr marL="3561882" indent="0" algn="ctr">
              <a:buNone/>
              <a:defRPr sz="2079"/>
            </a:lvl7pPr>
            <a:lvl8pPr marL="4155531" indent="0" algn="ctr">
              <a:buNone/>
              <a:defRPr sz="2079"/>
            </a:lvl8pPr>
            <a:lvl9pPr marL="4749176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5739" y="1512877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312" marR="0" indent="-168204" algn="l" defTabSz="11872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575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886" marR="0" indent="-168204" algn="l" defTabSz="11872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575" algn="ctr"/>
              </a:tabLst>
              <a:defRPr sz="15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109" marR="0" indent="-168204" algn="l" defTabSz="11872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575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627" indent="-171086">
              <a:buFont typeface="Arial" panose="020B0604020202020204" pitchFamily="34" charset="0"/>
              <a:buChar char="•"/>
              <a:tabLst>
                <a:tab pos="1207907" algn="ctr"/>
              </a:tabLst>
              <a:defRPr sz="1299" baseline="0"/>
            </a:lvl4pPr>
            <a:lvl5pPr marL="525627" indent="-171086">
              <a:buFont typeface="Arial" panose="020B0604020202020204" pitchFamily="34" charset="0"/>
              <a:buChar char="•"/>
              <a:tabLst>
                <a:tab pos="1207907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886" marR="0" lvl="1" indent="-168204" algn="l" defTabSz="11872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57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09" marR="0" lvl="2" indent="-168204" algn="l" defTabSz="11872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57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09" marR="0" lvl="2" indent="-168204" algn="l" defTabSz="11872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575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2311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132826-8DDB-440F-9719-13FEBFBE61B3}" type="datetimeFigureOut">
              <a:rPr lang="zh-CN" altLang="en-US" smtClean="0"/>
              <a:t>2023/10/21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119B60-6354-4A0F-9690-480B817CA4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9784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1046026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7958" y="456135"/>
            <a:ext cx="10947378" cy="41670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="1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313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829217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Page 2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9119B60-6354-4A0F-9690-480B817CA4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8019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5738" y="1512876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31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 sz="1799" baseline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894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.AppleSystemUIFont"/>
              <a:buChar char="&gt;"/>
              <a:tabLst>
                <a:tab pos="1207605" algn="ctr"/>
              </a:tabLst>
              <a:defRPr sz="1599" baseline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13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.AppleSystemUIFont"/>
              <a:buChar char="-"/>
              <a:tabLst>
                <a:tab pos="1207605" algn="ctr"/>
              </a:tabLst>
              <a:defRPr sz="1298" baseline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894" marR="0" lvl="1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07720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8481485" y="6489700"/>
            <a:ext cx="2796116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Page 2</a:t>
            </a:r>
            <a:endParaRPr lang="en-GB" altLang="zh-CN">
              <a:solidFill>
                <a:srgbClr val="000000"/>
              </a:solidFill>
            </a:endParaRPr>
          </a:p>
        </p:txBody>
      </p:sp>
      <p:sp>
        <p:nvSpPr>
          <p:cNvPr id="3" name="Line 146"/>
          <p:cNvSpPr>
            <a:spLocks noChangeShapeType="1"/>
          </p:cNvSpPr>
          <p:nvPr userDrawn="1"/>
        </p:nvSpPr>
        <p:spPr bwMode="auto">
          <a:xfrm flipV="1">
            <a:off x="334434" y="908050"/>
            <a:ext cx="11618384" cy="0"/>
          </a:xfrm>
          <a:prstGeom prst="line">
            <a:avLst/>
          </a:prstGeom>
          <a:noFill/>
          <a:ln w="38100">
            <a:solidFill>
              <a:srgbClr val="990000"/>
            </a:solidFill>
            <a:round/>
          </a:ln>
          <a:effectLst/>
        </p:spPr>
        <p:txBody>
          <a:bodyPr/>
          <a:lstStyle/>
          <a:p>
            <a:pPr defTabSz="914034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799" b="1">
              <a:solidFill>
                <a:srgbClr val="000066"/>
              </a:solidFill>
              <a:latin typeface="Arial" panose="020B0604020202020204" pitchFamily="34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56401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5738" y="1512876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31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894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605" algn="ctr"/>
              </a:tabLst>
              <a:defRPr sz="15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13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605" algn="ctr"/>
              </a:tabLst>
              <a:defRPr sz="12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894" marR="0" lvl="1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038176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模板刷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2629" y="520852"/>
            <a:ext cx="11029691" cy="54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913851" rtl="0" eaLnBrk="1" fontAlgn="base" latinLnBrk="0" hangingPunct="1">
              <a:lnSpc>
                <a:spcPts val="3427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None/>
              <a:defRPr lang="en-US" sz="2797" b="1" kern="0" dirty="0">
                <a:solidFill>
                  <a:schemeClr val="tx1"/>
                </a:solidFill>
                <a:latin typeface="Huawei Sans" panose="020B0604020202020204"/>
                <a:ea typeface="微软雅黑"/>
                <a:cs typeface="+mn-ea"/>
              </a:defRPr>
            </a:lvl1pPr>
            <a:lvl2pPr marL="593468" indent="0" algn="ctr">
              <a:buNone/>
              <a:defRPr sz="2597"/>
            </a:lvl2pPr>
            <a:lvl3pPr marL="1186937" indent="0" algn="ctr">
              <a:buNone/>
              <a:defRPr sz="2335"/>
            </a:lvl3pPr>
            <a:lvl4pPr marL="1780409" indent="0" algn="ctr">
              <a:buNone/>
              <a:defRPr sz="2079"/>
            </a:lvl4pPr>
            <a:lvl5pPr marL="2373878" indent="0" algn="ctr">
              <a:buNone/>
              <a:defRPr sz="2079"/>
            </a:lvl5pPr>
            <a:lvl6pPr marL="2967344" indent="0" algn="ctr">
              <a:buNone/>
              <a:defRPr sz="2079"/>
            </a:lvl6pPr>
            <a:lvl7pPr marL="3560812" indent="0" algn="ctr">
              <a:buNone/>
              <a:defRPr sz="2079"/>
            </a:lvl7pPr>
            <a:lvl8pPr marL="4154283" indent="0" algn="ctr">
              <a:buNone/>
              <a:defRPr sz="2079"/>
            </a:lvl8pPr>
            <a:lvl9pPr marL="4747750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896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000" y="151200"/>
            <a:ext cx="11100701" cy="871538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001" y="1197363"/>
            <a:ext cx="11100701" cy="46382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8481487" y="6489713"/>
            <a:ext cx="2796116" cy="45561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73E8625F-1A83-446C-8B3D-22F27EECD1C0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0041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5680" y="456136"/>
            <a:ext cx="10740640" cy="432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3428"/>
              </a:lnSpc>
              <a:spcBef>
                <a:spcPts val="0"/>
              </a:spcBef>
              <a:buNone/>
              <a:defRPr sz="2798" b="1" baseline="0">
                <a:solidFill>
                  <a:schemeClr val="accent1">
                    <a:lumMod val="75000"/>
                  </a:schemeClr>
                </a:solidFill>
                <a:latin typeface="(使用中文字体)"/>
                <a:ea typeface="微软雅黑" panose="020B0503020204020204" pitchFamily="34" charset="-122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19011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5938" y="260356"/>
            <a:ext cx="11160124" cy="53974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5938" y="908055"/>
            <a:ext cx="11160124" cy="5400675"/>
          </a:xfrm>
          <a:prstGeom prst="rect">
            <a:avLst/>
          </a:prstGeom>
        </p:spPr>
        <p:txBody>
          <a:bodyPr/>
          <a:lstStyle>
            <a:lvl1pPr marL="215850" indent="-215850">
              <a:buSzPct val="100000"/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180111576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5738" y="1512876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31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894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605" algn="ctr"/>
              </a:tabLst>
              <a:defRPr sz="15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13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605" algn="ctr"/>
              </a:tabLst>
              <a:defRPr sz="12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894" marR="0" lvl="1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587813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273972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429" indent="0" algn="ctr">
              <a:buNone/>
              <a:defRPr sz="2599"/>
            </a:lvl2pPr>
            <a:lvl3pPr marL="1187491" indent="0" algn="ctr">
              <a:buNone/>
              <a:defRPr sz="2339"/>
            </a:lvl3pPr>
            <a:lvl4pPr marL="1780919" indent="0" algn="ctr">
              <a:buNone/>
              <a:defRPr sz="2079"/>
            </a:lvl4pPr>
            <a:lvl5pPr marL="2374347" indent="0" algn="ctr">
              <a:buNone/>
              <a:defRPr sz="2079"/>
            </a:lvl5pPr>
            <a:lvl6pPr marL="2967775" indent="0" algn="ctr">
              <a:buNone/>
              <a:defRPr sz="2079"/>
            </a:lvl6pPr>
            <a:lvl7pPr marL="3561839" indent="0" algn="ctr">
              <a:buNone/>
              <a:defRPr sz="2079"/>
            </a:lvl7pPr>
            <a:lvl8pPr marL="4155266" indent="0" algn="ctr">
              <a:buNone/>
              <a:defRPr sz="2079"/>
            </a:lvl8pPr>
            <a:lvl9pPr marL="47486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28317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6248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40"/>
            <a:ext cx="10740640" cy="40060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7"/>
              </a:lnSpc>
              <a:spcBef>
                <a:spcPts val="0"/>
              </a:spcBef>
              <a:buNone/>
              <a:defRPr sz="2797" b="0" baseline="0">
                <a:solidFill>
                  <a:srgbClr val="A72126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defRPr>
            </a:lvl1pPr>
            <a:lvl2pPr marL="593188" indent="0" algn="ctr">
              <a:buNone/>
              <a:defRPr sz="2595"/>
            </a:lvl2pPr>
            <a:lvl3pPr marL="1186373" indent="0" algn="ctr">
              <a:buNone/>
              <a:defRPr sz="2335"/>
            </a:lvl3pPr>
            <a:lvl4pPr marL="1779562" indent="0" algn="ctr">
              <a:buNone/>
              <a:defRPr sz="2076"/>
            </a:lvl4pPr>
            <a:lvl5pPr marL="2372749" indent="0" algn="ctr">
              <a:buNone/>
              <a:defRPr sz="2076"/>
            </a:lvl5pPr>
            <a:lvl6pPr marL="2965935" indent="0" algn="ctr">
              <a:buNone/>
              <a:defRPr sz="2076"/>
            </a:lvl6pPr>
            <a:lvl7pPr marL="3559122" indent="0" algn="ctr">
              <a:buNone/>
              <a:defRPr sz="2076"/>
            </a:lvl7pPr>
            <a:lvl8pPr marL="4152310" indent="0" algn="ctr">
              <a:buNone/>
              <a:defRPr sz="2076"/>
            </a:lvl8pPr>
            <a:lvl9pPr marL="4745496" indent="0" algn="ctr">
              <a:buNone/>
              <a:defRPr sz="2076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55525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hy-ms-n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01" y="468000"/>
            <a:ext cx="10947378" cy="41670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2798" b="1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053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2795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2714" indent="0" algn="ctr">
              <a:buNone/>
              <a:defRPr sz="2593"/>
            </a:lvl2pPr>
            <a:lvl3pPr marL="1185424" indent="0" algn="ctr">
              <a:buNone/>
              <a:defRPr sz="2333"/>
            </a:lvl3pPr>
            <a:lvl4pPr marL="1778138" indent="0" algn="ctr">
              <a:buNone/>
              <a:defRPr sz="2074"/>
            </a:lvl4pPr>
            <a:lvl5pPr marL="2370851" indent="0" algn="ctr">
              <a:buNone/>
              <a:defRPr sz="2074"/>
            </a:lvl5pPr>
            <a:lvl6pPr marL="2963563" indent="0" algn="ctr">
              <a:buNone/>
              <a:defRPr sz="2074"/>
            </a:lvl6pPr>
            <a:lvl7pPr marL="3556275" indent="0" algn="ctr">
              <a:buNone/>
              <a:defRPr sz="2074"/>
            </a:lvl7pPr>
            <a:lvl8pPr marL="4148989" indent="0" algn="ctr">
              <a:buNone/>
              <a:defRPr sz="2074"/>
            </a:lvl8pPr>
            <a:lvl9pPr marL="4741701" indent="0" algn="ctr">
              <a:buNone/>
              <a:defRPr sz="2074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032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6"/>
              </a:lnSpc>
              <a:spcBef>
                <a:spcPts val="0"/>
              </a:spcBef>
              <a:buNone/>
              <a:defRPr sz="2796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2951" indent="0" algn="ctr">
              <a:buNone/>
              <a:defRPr sz="2594"/>
            </a:lvl2pPr>
            <a:lvl3pPr marL="1185898" indent="0" algn="ctr">
              <a:buNone/>
              <a:defRPr sz="2334"/>
            </a:lvl3pPr>
            <a:lvl4pPr marL="1778850" indent="0" algn="ctr">
              <a:buNone/>
              <a:defRPr sz="2075"/>
            </a:lvl4pPr>
            <a:lvl5pPr marL="2371800" indent="0" algn="ctr">
              <a:buNone/>
              <a:defRPr sz="2075"/>
            </a:lvl5pPr>
            <a:lvl6pPr marL="2964749" indent="0" algn="ctr">
              <a:buNone/>
              <a:defRPr sz="2075"/>
            </a:lvl6pPr>
            <a:lvl7pPr marL="3557698" indent="0" algn="ctr">
              <a:buNone/>
              <a:defRPr sz="2075"/>
            </a:lvl7pPr>
            <a:lvl8pPr marL="4150649" indent="0" algn="ctr">
              <a:buNone/>
              <a:defRPr sz="2075"/>
            </a:lvl8pPr>
            <a:lvl9pPr marL="4743598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620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hy-ms-h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01" y="468000"/>
            <a:ext cx="10947378" cy="41670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2798" b="1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791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5738" y="1512876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31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 sz="1799" baseline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894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.AppleSystemUIFont"/>
              <a:buChar char="&gt;"/>
              <a:tabLst>
                <a:tab pos="1207605" algn="ctr"/>
              </a:tabLst>
              <a:defRPr sz="1599" baseline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13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Tx/>
              <a:buFont typeface=".AppleSystemUIFont"/>
              <a:buChar char="-"/>
              <a:tabLst>
                <a:tab pos="1207605" algn="ctr"/>
              </a:tabLst>
              <a:defRPr sz="1298" baseline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894" marR="0" lvl="1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13595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hy-ms-n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02" y="468000"/>
            <a:ext cx="10947378" cy="41670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3427"/>
              </a:lnSpc>
              <a:spcBef>
                <a:spcPts val="0"/>
              </a:spcBef>
              <a:buNone/>
              <a:defRPr sz="2797" b="1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188" indent="0" algn="ctr">
              <a:buNone/>
              <a:defRPr sz="2595"/>
            </a:lvl2pPr>
            <a:lvl3pPr marL="1186373" indent="0" algn="ctr">
              <a:buNone/>
              <a:defRPr sz="2335"/>
            </a:lvl3pPr>
            <a:lvl4pPr marL="1779562" indent="0" algn="ctr">
              <a:buNone/>
              <a:defRPr sz="2076"/>
            </a:lvl4pPr>
            <a:lvl5pPr marL="2372749" indent="0" algn="ctr">
              <a:buNone/>
              <a:defRPr sz="2076"/>
            </a:lvl5pPr>
            <a:lvl6pPr marL="2965935" indent="0" algn="ctr">
              <a:buNone/>
              <a:defRPr sz="2076"/>
            </a:lvl6pPr>
            <a:lvl7pPr marL="3559122" indent="0" algn="ctr">
              <a:buNone/>
              <a:defRPr sz="2076"/>
            </a:lvl7pPr>
            <a:lvl8pPr marL="4152310" indent="0" algn="ctr">
              <a:buNone/>
              <a:defRPr sz="2076"/>
            </a:lvl8pPr>
            <a:lvl9pPr marL="4745496" indent="0" algn="ctr">
              <a:buNone/>
              <a:defRPr sz="2076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9059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2438" y="447470"/>
            <a:ext cx="11296649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323">
              <a:lnSpc>
                <a:spcPts val="3429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83867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hy-ms-n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02" y="468000"/>
            <a:ext cx="10947378" cy="41670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3427"/>
              </a:lnSpc>
              <a:spcBef>
                <a:spcPts val="0"/>
              </a:spcBef>
              <a:buNone/>
              <a:defRPr sz="2797" b="1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188" indent="0" algn="ctr">
              <a:buNone/>
              <a:defRPr sz="2595"/>
            </a:lvl2pPr>
            <a:lvl3pPr marL="1186373" indent="0" algn="ctr">
              <a:buNone/>
              <a:defRPr sz="2335"/>
            </a:lvl3pPr>
            <a:lvl4pPr marL="1779562" indent="0" algn="ctr">
              <a:buNone/>
              <a:defRPr sz="2076"/>
            </a:lvl4pPr>
            <a:lvl5pPr marL="2372749" indent="0" algn="ctr">
              <a:buNone/>
              <a:defRPr sz="2076"/>
            </a:lvl5pPr>
            <a:lvl6pPr marL="2965935" indent="0" algn="ctr">
              <a:buNone/>
              <a:defRPr sz="2076"/>
            </a:lvl6pPr>
            <a:lvl7pPr marL="3559122" indent="0" algn="ctr">
              <a:buNone/>
              <a:defRPr sz="2076"/>
            </a:lvl7pPr>
            <a:lvl8pPr marL="4152310" indent="0" algn="ctr">
              <a:buNone/>
              <a:defRPr sz="2076"/>
            </a:lvl8pPr>
            <a:lvl9pPr marL="4745496" indent="0" algn="ctr">
              <a:buNone/>
              <a:defRPr sz="2076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2068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1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26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6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7" Type="http://schemas.openxmlformats.org/officeDocument/2006/relationships/image" Target="../media/image4.tiff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theme" Target="../theme/theme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38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7.tiff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theme" Target="../theme/theme11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theme" Target="../theme/theme13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4.tiff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theme" Target="../theme/theme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theme" Target="../theme/theme15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2.png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" y="0"/>
            <a:ext cx="12187239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219" y="5911693"/>
            <a:ext cx="1587106" cy="52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105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</p:sldLayoutIdLst>
  <p:hf hdr="0" ftr="0" dt="0"/>
  <p:txStyles>
    <p:titleStyle>
      <a:lvl1pPr algn="l" defTabSz="913399" rtl="0" eaLnBrk="1" latinLnBrk="0" hangingPunct="1">
        <a:lnSpc>
          <a:spcPts val="3439"/>
        </a:lnSpc>
        <a:spcBef>
          <a:spcPct val="0"/>
        </a:spcBef>
        <a:buNone/>
        <a:defRPr sz="3199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3399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017" indent="0" algn="l" defTabSz="913399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3399" indent="0" algn="l" defTabSz="913399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0417" indent="0" algn="l" defTabSz="913399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7434" indent="0" algn="l" defTabSz="913399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2325" indent="-228509" algn="l" defTabSz="91339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69342" indent="-228509" algn="l" defTabSz="91339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6359" indent="-228509" algn="l" defTabSz="91339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3376" indent="-228509" algn="l" defTabSz="91339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39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339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399" algn="l" defTabSz="91339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417" algn="l" defTabSz="91339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434" algn="l" defTabSz="91339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451" algn="l" defTabSz="91339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0833" algn="l" defTabSz="91339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7850" algn="l" defTabSz="91339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4867" algn="l" defTabSz="91339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D1D1B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37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37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595757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595757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6" name="图片 40">
            <a:extLst>
              <a:ext uri="{FF2B5EF4-FFF2-40B4-BE49-F238E27FC236}">
                <a16:creationId xmlns:a16="http://schemas.microsoft.com/office/drawing/2014/main" id="{ECB2F89B-14F4-4960-8D15-68C5A2BA48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242" y="6223005"/>
            <a:ext cx="1208513" cy="39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596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4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8904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D1D1B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0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41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41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595757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595757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6" name="图片 40">
            <a:extLst>
              <a:ext uri="{FF2B5EF4-FFF2-40B4-BE49-F238E27FC236}">
                <a16:creationId xmlns:a16="http://schemas.microsoft.com/office/drawing/2014/main" id="{ECB2F89B-14F4-4960-8D15-68C5A2BA480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241" y="6223003"/>
            <a:ext cx="1208513" cy="39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791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704" r:id="rId2"/>
    <p:sldLayoutId id="2147483719" r:id="rId3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0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altLang="zh-CN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Proprietary - Restricted Distribution</a:t>
            </a:r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90493"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0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4112"/>
              <a:r>
                <a:rPr kumimoji="1" lang="zh-CN" altLang="en-US" sz="8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4112"/>
              <a:r>
                <a:rPr kumimoji="1" lang="zh-CN" altLang="en-US" sz="8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199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D1D1B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37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37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595757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595757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6" name="图片 40">
            <a:extLst>
              <a:ext uri="{FF2B5EF4-FFF2-40B4-BE49-F238E27FC236}">
                <a16:creationId xmlns:a16="http://schemas.microsoft.com/office/drawing/2014/main" id="{ECB2F89B-14F4-4960-8D15-68C5A2BA480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242" y="6223005"/>
            <a:ext cx="1208513" cy="39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273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731" r:id="rId2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57905" y="457499"/>
            <a:ext cx="11291061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84313"/>
            <a:ext cx="11293475" cy="4443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1743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</p:sldLayoutIdLst>
  <p:txStyles>
    <p:titleStyle>
      <a:lvl1pPr algn="l" defTabSz="914034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  <p15:guide id="2" pos="7401">
          <p15:clr>
            <a:srgbClr val="F26B43"/>
          </p15:clr>
        </p15:guide>
        <p15:guide id="3" orient="horz" pos="234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935">
          <p15:clr>
            <a:srgbClr val="F26B43"/>
          </p15:clr>
        </p15:guide>
        <p15:guide id="6" pos="3840">
          <p15:clr>
            <a:srgbClr val="F26B43"/>
          </p15:clr>
        </p15:guide>
        <p15:guide id="7" orient="horz" pos="278">
          <p15:clr>
            <a:srgbClr val="F26B43"/>
          </p15:clr>
        </p15:guide>
        <p15:guide id="8" orient="horz" pos="913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71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pPr defTabSz="890471"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3" y="2625390"/>
            <a:ext cx="1962556" cy="4233515"/>
            <a:chOff x="5343885" y="-48855"/>
            <a:chExt cx="3263586" cy="7037277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500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4089"/>
              <a:r>
                <a:rPr kumimoji="1" lang="zh-CN" altLang="en-US" sz="8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5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4089"/>
              <a:r>
                <a:rPr kumimoji="1" lang="zh-CN" altLang="en-US" sz="8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4089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5" name="图片 44">
            <a:extLst>
              <a:ext uri="{FF2B5EF4-FFF2-40B4-BE49-F238E27FC236}">
                <a16:creationId xmlns:a16="http://schemas.microsoft.com/office/drawing/2014/main" id="{6647D6A2-3B32-4BB6-9BCC-0D96025829A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2201" y="6243731"/>
            <a:ext cx="1408550" cy="44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11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3" r:id="rId3"/>
  </p:sldLayoutIdLst>
  <p:hf hdr="0" ftr="0" dt="0"/>
  <p:txStyles>
    <p:titleStyle>
      <a:lvl1pPr algn="l" defTabSz="1187293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23" indent="-296823" algn="l" defTabSz="1187293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71" indent="-296823" algn="l" defTabSz="1187293" rtl="0" eaLnBrk="1" latinLnBrk="0" hangingPunct="1">
        <a:lnSpc>
          <a:spcPct val="90000"/>
        </a:lnSpc>
        <a:spcBef>
          <a:spcPts val="651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18" indent="-296823" algn="l" defTabSz="1187293" rtl="0" eaLnBrk="1" latinLnBrk="0" hangingPunct="1">
        <a:lnSpc>
          <a:spcPct val="90000"/>
        </a:lnSpc>
        <a:spcBef>
          <a:spcPts val="651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765" indent="-296823" algn="l" defTabSz="1187293" rtl="0" eaLnBrk="1" latinLnBrk="0" hangingPunct="1">
        <a:lnSpc>
          <a:spcPct val="90000"/>
        </a:lnSpc>
        <a:spcBef>
          <a:spcPts val="651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12" indent="-296823" algn="l" defTabSz="1187293" rtl="0" eaLnBrk="1" latinLnBrk="0" hangingPunct="1">
        <a:lnSpc>
          <a:spcPct val="90000"/>
        </a:lnSpc>
        <a:spcBef>
          <a:spcPts val="651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058" indent="-296823" algn="l" defTabSz="1187293" rtl="0" eaLnBrk="1" latinLnBrk="0" hangingPunct="1">
        <a:lnSpc>
          <a:spcPct val="90000"/>
        </a:lnSpc>
        <a:spcBef>
          <a:spcPts val="651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706" indent="-296823" algn="l" defTabSz="1187293" rtl="0" eaLnBrk="1" latinLnBrk="0" hangingPunct="1">
        <a:lnSpc>
          <a:spcPct val="90000"/>
        </a:lnSpc>
        <a:spcBef>
          <a:spcPts val="651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351" indent="-296823" algn="l" defTabSz="1187293" rtl="0" eaLnBrk="1" latinLnBrk="0" hangingPunct="1">
        <a:lnSpc>
          <a:spcPct val="90000"/>
        </a:lnSpc>
        <a:spcBef>
          <a:spcPts val="651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5999" indent="-296823" algn="l" defTabSz="1187293" rtl="0" eaLnBrk="1" latinLnBrk="0" hangingPunct="1">
        <a:lnSpc>
          <a:spcPct val="90000"/>
        </a:lnSpc>
        <a:spcBef>
          <a:spcPts val="651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29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48" algn="l" defTabSz="118729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293" algn="l" defTabSz="118729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42" algn="l" defTabSz="118729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589" algn="l" defTabSz="118729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235" algn="l" defTabSz="118729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882" algn="l" defTabSz="118729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531" algn="l" defTabSz="118729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176" algn="l" defTabSz="118729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0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Proprietary - Restricted Distribution</a:t>
            </a:r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90493"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0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317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1" r:id="rId5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0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4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4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0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62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 userDrawn="1"/>
        </p:nvGrpSpPr>
        <p:grpSpPr>
          <a:xfrm>
            <a:off x="12211507" y="2931937"/>
            <a:ext cx="1982142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668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 186C</a:t>
                </a:r>
              </a:p>
              <a:p>
                <a:pPr algn="ctr" defTabSz="913668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668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 185C</a:t>
                </a:r>
              </a:p>
              <a:p>
                <a:pPr algn="ctr" defTabSz="913668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defTabSz="913668"/>
                <a:r>
                  <a:rPr kumimoji="1" lang="zh-CN" altLang="en-US" sz="1000" dirty="0">
                    <a:solidFill>
                      <a:srgbClr val="1D1D1A"/>
                    </a:solidFill>
                    <a:latin typeface="Microsoft YaHei" panose="020B0503020204020204" pitchFamily="34" charset="-122"/>
                    <a:cs typeface="Arial"/>
                    <a:sym typeface="Arial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>
                <a:extLst>
                  <a:ext uri="{FF2B5EF4-FFF2-40B4-BE49-F238E27FC236}">
                    <a16:creationId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668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 234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90/79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  <a:sym typeface="Arial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668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 120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0/15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  <a:sym typeface="Arial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 defTabSz="913668"/>
                <a:r>
                  <a:rPr kumimoji="1" lang="zh-CN" altLang="en-US" sz="1000" dirty="0">
                    <a:solidFill>
                      <a:srgbClr val="1D1D1A"/>
                    </a:solidFill>
                    <a:latin typeface="Microsoft YaHei" panose="020B0503020204020204" pitchFamily="34" charset="-122"/>
                    <a:cs typeface="Arial"/>
                    <a:sym typeface="Arial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668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 248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181/60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  <a:sym typeface="Arial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668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 235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92/1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  <a:sym typeface="Arial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668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 137/137/137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  <a:sym typeface="Arial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668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 35/24/21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  <a:sym typeface="Arial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668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 221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221/221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  <a:sym typeface="Arial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668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 233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140/128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  <a:sym typeface="Arial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668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 159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0/1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  <a:sym typeface="Arial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668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 245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220/87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  <a:sym typeface="Arial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668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 240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133/0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  <a:sym typeface="Arial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668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 181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181/181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  <a:sym typeface="Arial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668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 89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87/87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  <a:sym typeface="Arial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668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 255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  <a:sym typeface="Arial"/>
                  </a:rPr>
                  <a:t>255/255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  <a:sym typeface="Arial"/>
                </a:endParaRPr>
              </a:p>
            </p:txBody>
          </p:sp>
        </p:grpSp>
      </p:grpSp>
      <p:sp>
        <p:nvSpPr>
          <p:cNvPr id="41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1462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46"/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Huawei Confidential</a:t>
            </a:r>
          </a:p>
        </p:txBody>
      </p:sp>
      <p:sp>
        <p:nvSpPr>
          <p:cNvPr id="47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137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pPr defTabSz="890137"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pic>
        <p:nvPicPr>
          <p:cNvPr id="48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56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 userDrawn="1"/>
        </p:nvGrpSpPr>
        <p:grpSpPr>
          <a:xfrm>
            <a:off x="12211507" y="2931937"/>
            <a:ext cx="1982142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 defTabSz="913381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 defTabSz="913381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defTabSz="913381"/>
                <a:r>
                  <a:rPr kumimoji="1" lang="zh-CN" altLang="en-US" sz="1000" dirty="0">
                    <a:solidFill>
                      <a:srgbClr val="1D1D1A"/>
                    </a:solidFill>
                    <a:latin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>
                <a:extLst>
                  <a:ext uri="{FF2B5EF4-FFF2-40B4-BE49-F238E27FC236}">
                    <a16:creationId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 defTabSz="913381"/>
                <a:r>
                  <a:rPr kumimoji="1" lang="zh-CN" altLang="en-US" sz="1000" dirty="0">
                    <a:solidFill>
                      <a:srgbClr val="1D1D1A"/>
                    </a:solidFill>
                    <a:latin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49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137"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90137"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240" y="6223001"/>
            <a:ext cx="1208513" cy="39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868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</p:sldLayoutIdLst>
  <p:hf hdr="0" ftr="0" dt="0"/>
  <p:txStyles>
    <p:titleStyle>
      <a:lvl1pPr algn="l" defTabSz="1186373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93" indent="-296593" algn="l" defTabSz="1186373" rtl="0" eaLnBrk="1" latinLnBrk="0" hangingPunct="1">
        <a:lnSpc>
          <a:spcPct val="90000"/>
        </a:lnSpc>
        <a:spcBef>
          <a:spcPts val="1296"/>
        </a:spcBef>
        <a:buFont typeface="Arial" panose="020B0604020202020204" pitchFamily="34" charset="0"/>
        <a:buChar char="•"/>
        <a:defRPr sz="3633" kern="1200">
          <a:solidFill>
            <a:schemeClr val="tx1"/>
          </a:solidFill>
          <a:latin typeface="+mn-lt"/>
          <a:ea typeface="+mn-ea"/>
          <a:cs typeface="+mn-cs"/>
        </a:defRPr>
      </a:lvl1pPr>
      <a:lvl2pPr marL="889781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2967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6155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69341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2528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5715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48902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2089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188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373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79562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2749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5935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59122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2310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5496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4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4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2" y="2625390"/>
            <a:ext cx="1962556" cy="4233515"/>
            <a:chOff x="5343885" y="-48857"/>
            <a:chExt cx="326358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0373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D1D1B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37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37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595757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595757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5" name="Picture 46">
            <a:extLst>
              <a:ext uri="{FF2B5EF4-FFF2-40B4-BE49-F238E27FC236}">
                <a16:creationId xmlns:a16="http://schemas.microsoft.com/office/drawing/2014/main" id="{5907004C-C762-46A3-A174-80037F84633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7955" y="6344068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715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3">
            <a:extLst>
              <a:ext uri="{FF2B5EF4-FFF2-40B4-BE49-F238E27FC236}">
                <a16:creationId xmlns:a16="http://schemas.microsoft.com/office/drawing/2014/main" id="{A5D6757C-4C7B-48E7-814E-8B35F6EB152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33425" y="6402388"/>
            <a:ext cx="500063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89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89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89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89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89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889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889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889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889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6FD91F25-247D-42CC-80F5-E7151EDA9993}" type="slidenum">
              <a:rPr lang="en-US" altLang="zh-CN" sz="900" smtClean="0">
                <a:solidFill>
                  <a:srgbClr val="1D1D1B"/>
                </a:solidFill>
                <a:cs typeface="Arial" panose="020B0604020202020204" pitchFamily="34" charset="0"/>
              </a:rPr>
              <a:pPr eaLnBrk="1" hangingPunct="1">
                <a:defRPr/>
              </a:pPr>
              <a:t>‹#›</a:t>
            </a:fld>
            <a:endParaRPr lang="en-US" altLang="zh-CN" sz="90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grpSp>
        <p:nvGrpSpPr>
          <p:cNvPr id="3075" name="Group 87">
            <a:extLst>
              <a:ext uri="{FF2B5EF4-FFF2-40B4-BE49-F238E27FC236}">
                <a16:creationId xmlns:a16="http://schemas.microsoft.com/office/drawing/2014/main" id="{A039F97D-7CE1-4147-B3BB-468C0E353E7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2285663" y="2625725"/>
            <a:ext cx="1962150" cy="4233863"/>
            <a:chOff x="5343885" y="-48857"/>
            <a:chExt cx="326358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7086" y="1935407"/>
              <a:ext cx="792133" cy="662302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078" name="文本框 15">
              <a:extLst>
                <a:ext uri="{FF2B5EF4-FFF2-40B4-BE49-F238E27FC236}">
                  <a16:creationId xmlns:a16="http://schemas.microsoft.com/office/drawing/2014/main" id="{147AD2E1-252C-4B0C-9B7C-14B2C9B24982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5351805" y="1695291"/>
              <a:ext cx="1053537" cy="203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zh-CN" altLang="en-US" sz="800"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3545" y="1935407"/>
              <a:ext cx="792133" cy="662302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7086" y="3402497"/>
              <a:ext cx="792133" cy="66494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3545" y="2674229"/>
              <a:ext cx="792133" cy="662302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914112" eaLnBrk="1" fontAlgn="auto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7086" y="4866948"/>
              <a:ext cx="792133" cy="664940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3545" y="3415691"/>
              <a:ext cx="792133" cy="664940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ts val="625"/>
                </a:lnSpc>
                <a:defRPr/>
              </a:pPr>
              <a:r>
                <a:rPr kumimoji="1" lang="en-US" altLang="zh-CN" sz="500" b="1">
                  <a:solidFill>
                    <a:srgbClr val="FFFFFF"/>
                  </a:solidFill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>
                  <a:solidFill>
                    <a:srgbClr val="FFFFFF"/>
                  </a:solidFill>
                  <a:cs typeface="Arial" panose="020B0604020202020204" pitchFamily="34" charset="0"/>
                </a:rPr>
              </a:br>
              <a:r>
                <a:rPr kumimoji="1" lang="en-US" altLang="zh-CN" sz="500" b="1">
                  <a:solidFill>
                    <a:srgbClr val="FFFFFF"/>
                  </a:solidFill>
                  <a:cs typeface="Arial" panose="020B0604020202020204" pitchFamily="34" charset="0"/>
                </a:rPr>
                <a:t>242/137/68</a:t>
              </a:r>
              <a:endParaRPr kumimoji="1" lang="mr-IN" altLang="zh-CN" sz="500" b="1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4447" y="185984"/>
              <a:ext cx="789491" cy="662300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  <a:defRPr/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085" name="文本框 15">
              <a:extLst>
                <a:ext uri="{FF2B5EF4-FFF2-40B4-BE49-F238E27FC236}">
                  <a16:creationId xmlns:a16="http://schemas.microsoft.com/office/drawing/2014/main" id="{59DE8597-8197-4099-B940-C496E32F779F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5343885" y="-48857"/>
              <a:ext cx="726121" cy="2058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zh-CN" altLang="en-US" sz="800"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1805" y="916889"/>
              <a:ext cx="792133" cy="664940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447" y="2666314"/>
              <a:ext cx="792133" cy="664940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447" y="4136041"/>
              <a:ext cx="792133" cy="662302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447" y="5595215"/>
              <a:ext cx="792133" cy="664940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107" y="4866948"/>
              <a:ext cx="792133" cy="664940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1466" y="4136041"/>
              <a:ext cx="792133" cy="662302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1466" y="5595215"/>
              <a:ext cx="792133" cy="664940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185" y="185984"/>
              <a:ext cx="792133" cy="662300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6185" y="916889"/>
              <a:ext cx="792133" cy="664940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802" y="1935407"/>
              <a:ext cx="792133" cy="662302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802" y="2674229"/>
              <a:ext cx="792133" cy="662302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914112" eaLnBrk="1" fontAlgn="auto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802" y="3415691"/>
              <a:ext cx="792133" cy="664940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ts val="625"/>
                </a:lnSpc>
                <a:defRPr/>
              </a:pPr>
              <a:r>
                <a:rPr kumimoji="1" lang="en-US" altLang="zh-CN" sz="500" b="1">
                  <a:solidFill>
                    <a:srgbClr val="595757"/>
                  </a:solidFill>
                  <a:cs typeface="Arial" panose="020B0604020202020204" pitchFamily="34" charset="0"/>
                </a:rPr>
                <a:t>RGB 246/183/140</a:t>
              </a:r>
              <a:endParaRPr kumimoji="1" lang="mr-IN" altLang="zh-CN" sz="500" b="1">
                <a:solidFill>
                  <a:srgbClr val="595757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7363" y="4866948"/>
              <a:ext cx="789491" cy="664940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4722" y="4136041"/>
              <a:ext cx="789493" cy="662302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4722" y="5595215"/>
              <a:ext cx="789493" cy="664940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6802" y="185984"/>
              <a:ext cx="792133" cy="662300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6802" y="916889"/>
              <a:ext cx="792133" cy="664940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7416" y="1935407"/>
              <a:ext cx="789493" cy="662302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7416" y="2674229"/>
              <a:ext cx="789493" cy="662302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914112" eaLnBrk="1" fontAlgn="auto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7416" y="3415691"/>
              <a:ext cx="789493" cy="664940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ts val="625"/>
                </a:lnSpc>
                <a:defRPr/>
              </a:pPr>
              <a:r>
                <a:rPr kumimoji="1" lang="en-US" altLang="zh-CN" sz="500" b="1">
                  <a:solidFill>
                    <a:srgbClr val="595757"/>
                  </a:solidFill>
                  <a:cs typeface="Arial" panose="020B0604020202020204" pitchFamily="34" charset="0"/>
                </a:rPr>
                <a:t>RGB 250/211/187</a:t>
              </a:r>
              <a:endParaRPr kumimoji="1" lang="mr-IN" altLang="zh-CN" sz="500" b="1">
                <a:solidFill>
                  <a:srgbClr val="595757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338" y="4866948"/>
              <a:ext cx="792133" cy="664940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2697" y="4136041"/>
              <a:ext cx="792133" cy="662302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2697" y="5595215"/>
              <a:ext cx="792133" cy="664940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416" y="185984"/>
              <a:ext cx="792133" cy="662300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416" y="916889"/>
              <a:ext cx="792133" cy="664940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447" y="6323482"/>
              <a:ext cx="512246" cy="664940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1017" y="6323482"/>
              <a:ext cx="512246" cy="664940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229" y="6323482"/>
              <a:ext cx="514887" cy="664940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9441" y="6323482"/>
              <a:ext cx="512246" cy="664940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0733" y="6323482"/>
              <a:ext cx="514885" cy="66494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4664" y="6323482"/>
              <a:ext cx="512246" cy="66494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3076" name="Picture 46">
            <a:extLst>
              <a:ext uri="{FF2B5EF4-FFF2-40B4-BE49-F238E27FC236}">
                <a16:creationId xmlns:a16="http://schemas.microsoft.com/office/drawing/2014/main" id="{39C5E204-D234-49EE-9069-5820D11217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1750" y="6323013"/>
            <a:ext cx="1270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027250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586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7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18586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7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118586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7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118586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7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118586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7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defTabSz="1185863" rtl="0" fontAlgn="base">
        <a:lnSpc>
          <a:spcPct val="90000"/>
        </a:lnSpc>
        <a:spcBef>
          <a:spcPct val="0"/>
        </a:spcBef>
        <a:spcAft>
          <a:spcPct val="0"/>
        </a:spcAft>
        <a:defRPr sz="57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defTabSz="1185863" rtl="0" fontAlgn="base">
        <a:lnSpc>
          <a:spcPct val="90000"/>
        </a:lnSpc>
        <a:spcBef>
          <a:spcPct val="0"/>
        </a:spcBef>
        <a:spcAft>
          <a:spcPct val="0"/>
        </a:spcAft>
        <a:defRPr sz="57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defTabSz="1185863" rtl="0" fontAlgn="base">
        <a:lnSpc>
          <a:spcPct val="90000"/>
        </a:lnSpc>
        <a:spcBef>
          <a:spcPct val="0"/>
        </a:spcBef>
        <a:spcAft>
          <a:spcPct val="0"/>
        </a:spcAft>
        <a:defRPr sz="57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defTabSz="1185863" rtl="0" fontAlgn="base">
        <a:lnSpc>
          <a:spcPct val="90000"/>
        </a:lnSpc>
        <a:spcBef>
          <a:spcPct val="0"/>
        </a:spcBef>
        <a:spcAft>
          <a:spcPct val="0"/>
        </a:spcAft>
        <a:defRPr sz="57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295275" indent="-295275" algn="l" defTabSz="1185863" rtl="0" eaLnBrk="0" fontAlgn="base" hangingPunct="0">
        <a:lnSpc>
          <a:spcPct val="90000"/>
        </a:lnSpc>
        <a:spcBef>
          <a:spcPts val="1300"/>
        </a:spcBef>
        <a:spcAft>
          <a:spcPct val="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295275" algn="l" defTabSz="1185863" rtl="0" eaLnBrk="0" fontAlgn="base" hangingPunct="0">
        <a:lnSpc>
          <a:spcPct val="90000"/>
        </a:lnSpc>
        <a:spcBef>
          <a:spcPts val="650"/>
        </a:spcBef>
        <a:spcAft>
          <a:spcPct val="0"/>
        </a:spcAft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482725" indent="-295275" algn="l" defTabSz="1185863" rtl="0" eaLnBrk="0" fontAlgn="base" hangingPunct="0">
        <a:lnSpc>
          <a:spcPct val="90000"/>
        </a:lnSpc>
        <a:spcBef>
          <a:spcPts val="650"/>
        </a:spcBef>
        <a:spcAft>
          <a:spcPct val="0"/>
        </a:spcAft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2076450" indent="-295275" algn="l" defTabSz="1185863" rtl="0" eaLnBrk="0" fontAlgn="base" hangingPunct="0">
        <a:lnSpc>
          <a:spcPct val="90000"/>
        </a:lnSpc>
        <a:spcBef>
          <a:spcPts val="650"/>
        </a:spcBef>
        <a:spcAft>
          <a:spcPct val="0"/>
        </a:spcAft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670175" indent="-295275" algn="l" defTabSz="1185863" rtl="0" eaLnBrk="0" fontAlgn="base" hangingPunct="0">
        <a:lnSpc>
          <a:spcPct val="90000"/>
        </a:lnSpc>
        <a:spcBef>
          <a:spcPts val="650"/>
        </a:spcBef>
        <a:spcAft>
          <a:spcPct val="0"/>
        </a:spcAft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7" y="6402811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8978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D1D1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88978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D1D1B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4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338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marL="0" marR="0" lvl="0" indent="0" algn="l" defTabSz="91338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595757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i="0" u="none" strike="noStrike" kern="1200" cap="none" spc="0" normalizeH="0" baseline="0" noProof="0" dirty="0">
                <a:ln>
                  <a:noFill/>
                </a:ln>
                <a:solidFill>
                  <a:srgbClr val="595757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marL="0" marR="0" lvl="0" indent="0" algn="ctr" defTabSz="91338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595757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6" name="图片 40">
            <a:extLst>
              <a:ext uri="{FF2B5EF4-FFF2-40B4-BE49-F238E27FC236}">
                <a16:creationId xmlns:a16="http://schemas.microsoft.com/office/drawing/2014/main" id="{ECB2F89B-14F4-4960-8D15-68C5A2BA480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243" y="6223007"/>
            <a:ext cx="1208513" cy="39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90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</p:sldLayoutIdLst>
  <p:hf hdr="0" ftr="0" dt="0"/>
  <p:txStyles>
    <p:titleStyle>
      <a:lvl1pPr algn="l" defTabSz="1186373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93" indent="-296593" algn="l" defTabSz="1186373" rtl="0" eaLnBrk="1" latinLnBrk="0" hangingPunct="1">
        <a:lnSpc>
          <a:spcPct val="90000"/>
        </a:lnSpc>
        <a:spcBef>
          <a:spcPts val="1296"/>
        </a:spcBef>
        <a:buFont typeface="Arial" panose="020B0604020202020204" pitchFamily="34" charset="0"/>
        <a:buChar char="•"/>
        <a:defRPr sz="3633" kern="1200">
          <a:solidFill>
            <a:schemeClr val="tx1"/>
          </a:solidFill>
          <a:latin typeface="+mn-lt"/>
          <a:ea typeface="+mn-ea"/>
          <a:cs typeface="+mn-cs"/>
        </a:defRPr>
      </a:lvl1pPr>
      <a:lvl2pPr marL="889781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2967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6155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69341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2528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5715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48902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2089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188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373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79562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2749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5935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59122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2310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5496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0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4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4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0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119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ee.com/mindspore/mindquantu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1.png"/><Relationship Id="rId7" Type="http://schemas.openxmlformats.org/officeDocument/2006/relationships/hyperlink" Target="https://support.huaweicloud.com/usermanual-account/zh-cn_topic_0077914254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www.huaweicloud.com/" TargetMode="External"/><Relationship Id="rId5" Type="http://schemas.openxmlformats.org/officeDocument/2006/relationships/hyperlink" Target="https://hiq.huaweicloud.com/portal/home" TargetMode="External"/><Relationship Id="rId4" Type="http://schemas.openxmlformats.org/officeDocument/2006/relationships/hyperlink" Target="https://hiq.huaweicloud.com/" TargetMode="External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indspore.cn/mindquantum/docs/zh-CN/master/mindquantum.io.html#module-mindquantum.io" TargetMode="External"/><Relationship Id="rId3" Type="http://schemas.openxmlformats.org/officeDocument/2006/relationships/hyperlink" Target="https://www.mindspore.cn/mindquantum/docs/zh-CN/master/mindquantum.core.html#module-mindquantum.core" TargetMode="External"/><Relationship Id="rId7" Type="http://schemas.openxmlformats.org/officeDocument/2006/relationships/hyperlink" Target="https://www.mindspore.cn/mindquantum/docs/zh-CN/master/mindquantum.device.html#module-mindquantum.device" TargetMode="External"/><Relationship Id="rId2" Type="http://schemas.openxmlformats.org/officeDocument/2006/relationships/hyperlink" Target="https://www.mindspore.cn/mindquantum/docs/zh-CN/master/mindquantum.dtype.html#module-mindquantum.dtype" TargetMode="Externa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www.mindspore.cn/mindquantum/docs/zh-CN/master/mindquantum.algorithm.html#module-mindquantum.algorithm" TargetMode="External"/><Relationship Id="rId5" Type="http://schemas.openxmlformats.org/officeDocument/2006/relationships/hyperlink" Target="https://www.mindspore.cn/mindquantum/docs/zh-CN/master/mindquantum.framework.html#module-mindquantum.framework" TargetMode="External"/><Relationship Id="rId10" Type="http://schemas.openxmlformats.org/officeDocument/2006/relationships/hyperlink" Target="https://www.mindspore.cn/mindquantum/docs/zh-CN/master/mindquantum.utils.html#module-mindquantum.utils" TargetMode="External"/><Relationship Id="rId4" Type="http://schemas.openxmlformats.org/officeDocument/2006/relationships/hyperlink" Target="https://www.mindspore.cn/mindquantum/docs/zh-CN/master/mindquantum.simulator.html#module-mindquantum.simulator" TargetMode="External"/><Relationship Id="rId9" Type="http://schemas.openxmlformats.org/officeDocument/2006/relationships/hyperlink" Target="https://www.mindspore.cn/mindquantum/docs/zh-CN/master/mindquantum.engine.html#module-mindquantum.engin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ndspore.cn/mindquantum/docs/zh-CN/master/mindquantum.core.circuit.html#module-mindquantum.core.circuit" TargetMode="External"/><Relationship Id="rId2" Type="http://schemas.openxmlformats.org/officeDocument/2006/relationships/hyperlink" Target="https://www.mindspore.cn/mindquantum/docs/zh-CN/master/mindquantum.core.gates.html#module-mindquantum.core.gates" TargetMode="External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www.mindspore.cn/mindquantum/docs/zh-CN/master/mindquantum.core.parameterresolver.html#module-mindquantum.core.parameterresolver" TargetMode="External"/><Relationship Id="rId4" Type="http://schemas.openxmlformats.org/officeDocument/2006/relationships/hyperlink" Target="https://www.mindspore.cn/mindquantum/docs/zh-CN/master/mindquantum.core.operators.html#module-mindquantum.core.operators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NUL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8.png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8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66921B2-D85D-4FC8-BE93-D7B4859D7BE9}"/>
              </a:ext>
            </a:extLst>
          </p:cNvPr>
          <p:cNvSpPr txBox="1">
            <a:spLocks/>
          </p:cNvSpPr>
          <p:nvPr/>
        </p:nvSpPr>
        <p:spPr>
          <a:xfrm>
            <a:off x="518179" y="1234747"/>
            <a:ext cx="10969200" cy="1877908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登录Gitee官网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：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    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访问Gitee官网（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gitee.com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）并登录（如未注册，需要先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注册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Gitee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账号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）。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关注MindQuantum代码仓：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访问MindQuantum主仓库（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hlinkClick r:id="rId3"/>
              </a:rPr>
              <a:t>https://gitee.com/mindspore/mindquantum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）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点击右上角按钮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一键三连（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Watch/Star/Fork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）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，创建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MindQuantum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的个人仓。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081726-A35B-4E80-B4CB-40A36E5F0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3129" y="1330662"/>
            <a:ext cx="1820226" cy="1820226"/>
          </a:xfrm>
          <a:prstGeom prst="rect">
            <a:avLst/>
          </a:prstGeom>
        </p:spPr>
      </p:pic>
      <p:sp>
        <p:nvSpPr>
          <p:cNvPr id="6" name="副标题 5">
            <a:extLst>
              <a:ext uri="{FF2B5EF4-FFF2-40B4-BE49-F238E27FC236}">
                <a16:creationId xmlns:a16="http://schemas.microsoft.com/office/drawing/2014/main" id="{44631527-7632-4F07-BF0F-9948B6D99B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编程准备</a:t>
            </a:r>
            <a:r>
              <a:rPr lang="en-US" altLang="zh-CN" dirty="0"/>
              <a:t>1</a:t>
            </a:r>
            <a:r>
              <a:rPr lang="zh-CN" altLang="en-US" dirty="0"/>
              <a:t>：准备</a:t>
            </a:r>
            <a:r>
              <a:rPr lang="en-US" altLang="zh-CN" sz="2799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MindQuantum</a:t>
            </a:r>
            <a:r>
              <a:rPr lang="zh-CN" altLang="en-US" sz="2799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个人代码仓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E090610-54C4-44A1-9A60-CEB56E669D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85" y="3694052"/>
            <a:ext cx="10459769" cy="193785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13468DA-4585-4B65-93CF-9022CBCF2CE8}"/>
              </a:ext>
            </a:extLst>
          </p:cNvPr>
          <p:cNvSpPr/>
          <p:nvPr/>
        </p:nvSpPr>
        <p:spPr>
          <a:xfrm>
            <a:off x="9459865" y="3155349"/>
            <a:ext cx="17267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MindQuantum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代码仓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211EDD8-2977-420A-9481-D9845A80BD11}"/>
              </a:ext>
            </a:extLst>
          </p:cNvPr>
          <p:cNvSpPr/>
          <p:nvPr/>
        </p:nvSpPr>
        <p:spPr>
          <a:xfrm>
            <a:off x="7804087" y="4318503"/>
            <a:ext cx="3382533" cy="42551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2CC8F2-FD80-4BEC-B597-9CAD401C8E0C}"/>
              </a:ext>
            </a:extLst>
          </p:cNvPr>
          <p:cNvSpPr/>
          <p:nvPr/>
        </p:nvSpPr>
        <p:spPr>
          <a:xfrm>
            <a:off x="8077754" y="14838"/>
            <a:ext cx="936000" cy="288000"/>
          </a:xfrm>
          <a:prstGeom prst="rect">
            <a:avLst/>
          </a:prstGeom>
          <a:solidFill>
            <a:schemeClr val="accent6"/>
          </a:solidFill>
        </p:spPr>
        <p:txBody>
          <a:bodyPr lIns="0" tIns="0" rIns="0" bIns="0" anchor="ctr">
            <a:noAutofit/>
          </a:bodyPr>
          <a:lstStyle/>
          <a:p>
            <a:pPr marL="0" marR="0" lvl="0" indent="0" algn="ctr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编程准备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CCF6BA-6462-40E4-8B3D-9C098B927610}"/>
              </a:ext>
            </a:extLst>
          </p:cNvPr>
          <p:cNvSpPr/>
          <p:nvPr/>
        </p:nvSpPr>
        <p:spPr>
          <a:xfrm>
            <a:off x="9013754" y="14838"/>
            <a:ext cx="1296000" cy="288000"/>
          </a:xfrm>
          <a:prstGeom prst="rect">
            <a:avLst/>
          </a:prstGeom>
          <a:solidFill>
            <a:schemeClr val="tx2">
              <a:lumMod val="85000"/>
            </a:schemeClr>
          </a:solidFill>
        </p:spPr>
        <p:txBody>
          <a:bodyPr lIns="0" tIns="0" rIns="0" bIns="0" anchor="ctr">
            <a:noAutofit/>
          </a:bodyPr>
          <a:lstStyle/>
          <a:p>
            <a:pPr marL="0" marR="0" lvl="0" indent="0" algn="ctr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量子线路编程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6356DAA-8F43-40B9-8533-C2162D8D3D25}"/>
              </a:ext>
            </a:extLst>
          </p:cNvPr>
          <p:cNvSpPr/>
          <p:nvPr/>
        </p:nvSpPr>
        <p:spPr>
          <a:xfrm>
            <a:off x="10321637" y="14838"/>
            <a:ext cx="1296000" cy="288000"/>
          </a:xfrm>
          <a:prstGeom prst="rect">
            <a:avLst/>
          </a:prstGeom>
          <a:solidFill>
            <a:schemeClr val="tx2">
              <a:lumMod val="85000"/>
            </a:schemeClr>
          </a:solidFill>
        </p:spPr>
        <p:txBody>
          <a:bodyPr lIns="0" tIns="0" rIns="0" bIns="0" anchor="ctr">
            <a:noAutofit/>
          </a:bodyPr>
          <a:lstStyle/>
          <a:p>
            <a:pPr marL="0" marR="0" lvl="0" indent="0" algn="ctr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变分算法编程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468ADCE-B805-40B7-9468-8101930E8E4B}"/>
              </a:ext>
            </a:extLst>
          </p:cNvPr>
          <p:cNvCxnSpPr/>
          <p:nvPr/>
        </p:nvCxnSpPr>
        <p:spPr>
          <a:xfrm>
            <a:off x="9013754" y="14838"/>
            <a:ext cx="0" cy="28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C0379AE-7EC8-453F-AFA3-62E484F0D8B7}"/>
              </a:ext>
            </a:extLst>
          </p:cNvPr>
          <p:cNvCxnSpPr/>
          <p:nvPr/>
        </p:nvCxnSpPr>
        <p:spPr>
          <a:xfrm>
            <a:off x="10315695" y="14838"/>
            <a:ext cx="0" cy="28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431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80FBC62-A178-462F-9021-A49E4CD70FE0}"/>
              </a:ext>
            </a:extLst>
          </p:cNvPr>
          <p:cNvSpPr txBox="1">
            <a:spLocks/>
          </p:cNvSpPr>
          <p:nvPr/>
        </p:nvSpPr>
        <p:spPr>
          <a:xfrm>
            <a:off x="540001" y="1264060"/>
            <a:ext cx="7523343" cy="1142014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defPPr>
              <a:defRPr lang="zh-CN"/>
            </a:defPPr>
            <a:lvl1pPr marL="342900" marR="0" lvl="0" indent="-34290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+mj-lt"/>
              <a:buAutoNum type="arabicPeriod"/>
              <a:tabLst/>
              <a:defRPr kumimoji="0" sz="16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</a:defRPr>
            </a:lvl1pPr>
            <a:lvl2pPr marL="685800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登录云平台：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304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访问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HiQ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量子计算云平台网站，使用华为云账号登录。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304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如未注册，请先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注册华为云账号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并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实名认证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7B46080-3143-4F16-B184-8FE19CAAD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5475" y="1097421"/>
            <a:ext cx="1608581" cy="1461052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A31C0013-AAB4-44FF-97BF-2B1B761295CC}"/>
              </a:ext>
            </a:extLst>
          </p:cNvPr>
          <p:cNvSpPr/>
          <p:nvPr/>
        </p:nvSpPr>
        <p:spPr>
          <a:xfrm>
            <a:off x="7891180" y="3969444"/>
            <a:ext cx="3814125" cy="2275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HiQ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量子计算官网：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hlinkClick r:id="rId4"/>
              </a:rPr>
              <a:t>https://hiq.huaweicloud.com/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HiQ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量子计算云平台官网：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hlinkClick r:id="rId5"/>
              </a:rPr>
              <a:t>https://hiq.huaweicloud.com/portal/home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华为云官网：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hlinkClick r:id="rId6"/>
              </a:rPr>
              <a:t>https://www.huaweicloud.com/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华为云账号实名认证指导：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hlinkClick r:id="rId7"/>
              </a:rPr>
              <a:t>https://support.huaweicloud.com/usermanual-account/zh-cn_topic_0077914254.html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4D9A5C-50E1-45FF-9AFD-9DAB23D02A3C}"/>
              </a:ext>
            </a:extLst>
          </p:cNvPr>
          <p:cNvSpPr/>
          <p:nvPr/>
        </p:nvSpPr>
        <p:spPr>
          <a:xfrm>
            <a:off x="9834056" y="1759793"/>
            <a:ext cx="187124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HiQ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量子计算官网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2B650D9-B644-4E08-AF2F-3CDDB77BF5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2799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编程准备</a:t>
            </a:r>
            <a:r>
              <a:rPr lang="en-US" altLang="zh-CN" sz="2799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799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：准备开发环境</a:t>
            </a: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22760C76-7080-4ACB-BF2D-76C3CCC8DC81}"/>
              </a:ext>
            </a:extLst>
          </p:cNvPr>
          <p:cNvSpPr txBox="1">
            <a:spLocks/>
          </p:cNvSpPr>
          <p:nvPr/>
        </p:nvSpPr>
        <p:spPr>
          <a:xfrm>
            <a:off x="540001" y="2406074"/>
            <a:ext cx="7299074" cy="156337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defPPr>
              <a:defRPr lang="zh-CN"/>
            </a:defPPr>
            <a:lvl1pPr marL="342900" marR="0" lvl="0" indent="-34290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+mj-lt"/>
              <a:buAutoNum type="arabicPeriod"/>
              <a:tabLst/>
              <a:defRPr kumimoji="0" sz="16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</a:defRPr>
            </a:lvl1pPr>
            <a:lvl2pPr marL="685800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切换服务区域（新注册用户首次登录需设置）：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304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新注册用户首次登录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华为云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hlinkClick r:id="rId6"/>
              </a:rPr>
              <a:t>https://www.huaweicloud.com/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304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 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右上角选择</a:t>
            </a:r>
            <a:r>
              <a:rPr kumimoji="0" lang="zh-CN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【控制台】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（如下图）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</a:p>
          <a:p>
            <a:pPr marL="2304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 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在控制台页面上方导航栏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切换地区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选择</a:t>
            </a:r>
            <a:r>
              <a:rPr kumimoji="0" lang="zh-CN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华北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北京四】</a:t>
            </a:r>
            <a:r>
              <a:rPr kumimoji="0" lang="zh-CN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（如下图）。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51D29F6-6020-4772-98A9-FBBA789468CE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83" y="3981801"/>
            <a:ext cx="6076950" cy="369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图片 18" descr="cke_28426.png">
            <a:extLst>
              <a:ext uri="{FF2B5EF4-FFF2-40B4-BE49-F238E27FC236}">
                <a16:creationId xmlns:a16="http://schemas.microsoft.com/office/drawing/2014/main" id="{81CE4313-7341-482B-BCE2-2BDD7EFF544D}"/>
              </a:ext>
            </a:extLst>
          </p:cNvPr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83" y="4507180"/>
            <a:ext cx="6076950" cy="18012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654A483-BF5A-42D9-8B55-DC2A32678B6A}"/>
              </a:ext>
            </a:extLst>
          </p:cNvPr>
          <p:cNvSpPr/>
          <p:nvPr/>
        </p:nvSpPr>
        <p:spPr>
          <a:xfrm>
            <a:off x="6942233" y="3981801"/>
            <a:ext cx="264493" cy="24081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7A8A4A-D888-4B31-AB23-2701852960EA}"/>
              </a:ext>
            </a:extLst>
          </p:cNvPr>
          <p:cNvSpPr/>
          <p:nvPr/>
        </p:nvSpPr>
        <p:spPr>
          <a:xfrm>
            <a:off x="8077754" y="14838"/>
            <a:ext cx="936000" cy="288000"/>
          </a:xfrm>
          <a:prstGeom prst="rect">
            <a:avLst/>
          </a:prstGeom>
          <a:solidFill>
            <a:schemeClr val="accent6"/>
          </a:solidFill>
        </p:spPr>
        <p:txBody>
          <a:bodyPr lIns="0" tIns="0" rIns="0" bIns="0" anchor="ctr">
            <a:noAutofit/>
          </a:bodyPr>
          <a:lstStyle/>
          <a:p>
            <a:pPr marL="0" marR="0" lvl="0" indent="0" algn="ctr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编程准备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ACAC19-4C20-4C82-9C7A-8C46C631F291}"/>
              </a:ext>
            </a:extLst>
          </p:cNvPr>
          <p:cNvSpPr/>
          <p:nvPr/>
        </p:nvSpPr>
        <p:spPr>
          <a:xfrm>
            <a:off x="9013754" y="14838"/>
            <a:ext cx="1296000" cy="288000"/>
          </a:xfrm>
          <a:prstGeom prst="rect">
            <a:avLst/>
          </a:prstGeom>
          <a:solidFill>
            <a:schemeClr val="tx2">
              <a:lumMod val="85000"/>
            </a:schemeClr>
          </a:solidFill>
        </p:spPr>
        <p:txBody>
          <a:bodyPr lIns="0" tIns="0" rIns="0" bIns="0" anchor="ctr">
            <a:noAutofit/>
          </a:bodyPr>
          <a:lstStyle/>
          <a:p>
            <a:pPr marL="0" marR="0" lvl="0" indent="0" algn="ctr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量子线路编程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034008D-2637-496B-A615-47D40ADBC350}"/>
              </a:ext>
            </a:extLst>
          </p:cNvPr>
          <p:cNvSpPr/>
          <p:nvPr/>
        </p:nvSpPr>
        <p:spPr>
          <a:xfrm>
            <a:off x="10321637" y="14838"/>
            <a:ext cx="1296000" cy="288000"/>
          </a:xfrm>
          <a:prstGeom prst="rect">
            <a:avLst/>
          </a:prstGeom>
          <a:solidFill>
            <a:schemeClr val="tx2">
              <a:lumMod val="85000"/>
            </a:schemeClr>
          </a:solidFill>
        </p:spPr>
        <p:txBody>
          <a:bodyPr lIns="0" tIns="0" rIns="0" bIns="0" anchor="ctr">
            <a:noAutofit/>
          </a:bodyPr>
          <a:lstStyle/>
          <a:p>
            <a:pPr marL="0" marR="0" lvl="0" indent="0" algn="ctr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变分算法编程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08E8A26-E301-41CA-B0CC-B3A421B2F00C}"/>
              </a:ext>
            </a:extLst>
          </p:cNvPr>
          <p:cNvCxnSpPr/>
          <p:nvPr/>
        </p:nvCxnSpPr>
        <p:spPr>
          <a:xfrm>
            <a:off x="9013754" y="14838"/>
            <a:ext cx="0" cy="28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9A8DB1B5-6406-468D-BC98-B2221A1F8174}"/>
              </a:ext>
            </a:extLst>
          </p:cNvPr>
          <p:cNvCxnSpPr/>
          <p:nvPr/>
        </p:nvCxnSpPr>
        <p:spPr>
          <a:xfrm>
            <a:off x="10315695" y="14838"/>
            <a:ext cx="0" cy="28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838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80FBC62-A178-462F-9021-A49E4CD70FE0}"/>
              </a:ext>
            </a:extLst>
          </p:cNvPr>
          <p:cNvSpPr txBox="1">
            <a:spLocks/>
          </p:cNvSpPr>
          <p:nvPr/>
        </p:nvSpPr>
        <p:spPr>
          <a:xfrm>
            <a:off x="540001" y="1264059"/>
            <a:ext cx="5337083" cy="4669602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defPPr>
              <a:defRPr lang="zh-CN"/>
            </a:defPPr>
            <a:lvl1pPr marL="342900" marR="0" lvl="0" indent="-34290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+mj-lt"/>
              <a:buAutoNum type="arabicPeriod"/>
              <a:tabLst/>
              <a:defRPr kumimoji="0" sz="1600" b="1" i="0" u="none" strike="noStrike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</a:defRPr>
            </a:lvl1pPr>
            <a:lvl2pPr marL="685800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144000" marR="0" lvl="0" indent="-1440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创建开发实例：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8000" marR="0" lvl="1" indent="-2880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>
                <a:tab pos="1609725" algn="l"/>
                <a:tab pos="1609725" algn="l"/>
                <a:tab pos="1609725" algn="l"/>
                <a:tab pos="1609725" algn="l"/>
              </a:tabLst>
              <a:defRPr/>
            </a:pPr>
            <a:r>
              <a:rPr kumimoji="0" lang="zh-CN" altLang="en-US" sz="1800" b="0" i="0" u="none" strike="noStrike" kern="1200" cap="none" spc="15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本次实验采用</a:t>
            </a:r>
            <a:r>
              <a:rPr kumimoji="0" lang="zh-CN" altLang="en-US" sz="1800" b="1" i="0" u="none" strike="noStrike" kern="1200" cap="none" spc="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①</a:t>
            </a:r>
            <a:r>
              <a:rPr kumimoji="0" lang="en-US" altLang="zh-CN" sz="1800" b="1" i="0" u="none" strike="noStrike" kern="1200" cap="none" spc="15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JupyterLab</a:t>
            </a:r>
            <a:r>
              <a:rPr kumimoji="0" lang="zh-CN" altLang="en-US" sz="1800" b="0" i="0" u="none" strike="noStrike" kern="1200" cap="none" spc="15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免费服务</a:t>
            </a:r>
            <a:endParaRPr kumimoji="0" lang="en-US" altLang="zh-CN" sz="1800" b="0" i="0" u="none" strike="noStrike" kern="1200" cap="none" spc="15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8000" marR="0" lvl="1" indent="-2880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>
                <a:tab pos="1609725" algn="l"/>
                <a:tab pos="1609725" algn="l"/>
                <a:tab pos="1609725" algn="l"/>
                <a:tab pos="1609725" algn="l"/>
              </a:tabLst>
              <a:defRPr/>
            </a:pPr>
            <a:r>
              <a:rPr kumimoji="0" lang="zh-CN" altLang="en-US" sz="1800" b="0" i="0" u="none" strike="noStrike" kern="1200" cap="none" spc="15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点击</a:t>
            </a:r>
            <a:r>
              <a:rPr kumimoji="0" lang="zh-CN" altLang="en-US" sz="1800" b="1" i="0" u="none" strike="noStrike" kern="1200" cap="none" spc="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②立即体验</a:t>
            </a:r>
            <a:r>
              <a:rPr kumimoji="0" lang="zh-CN" altLang="en-US" sz="1800" b="0" i="0" u="none" strike="noStrike" kern="1200" cap="none" spc="15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创建实例</a:t>
            </a:r>
            <a:endParaRPr kumimoji="0" lang="en-US" altLang="zh-CN" sz="1800" b="0" i="0" u="none" strike="noStrike" kern="1200" cap="none" spc="15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8000" marR="0" lvl="1" indent="-2880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>
                <a:tab pos="1609725" algn="l"/>
                <a:tab pos="1609725" algn="l"/>
                <a:tab pos="1609725" algn="l"/>
                <a:tab pos="1609725" algn="l"/>
              </a:tabLst>
              <a:defRPr/>
            </a:pPr>
            <a:r>
              <a:rPr kumimoji="0" lang="zh-CN" altLang="en-US" sz="1800" b="0" i="0" u="none" strike="noStrike" kern="1200" cap="none" spc="15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点击</a:t>
            </a:r>
            <a:r>
              <a:rPr kumimoji="0" lang="zh-CN" altLang="en-US" sz="1800" b="1" i="0" u="none" strike="noStrike" kern="1200" cap="none" spc="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③打开终端</a:t>
            </a:r>
            <a:r>
              <a:rPr kumimoji="0" lang="zh-CN" altLang="en-US" sz="1800" b="0" i="0" u="none" strike="noStrike" kern="1200" cap="none" spc="15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，输入如下命令确认版本是否为最新版本，如若不是，安装最新版本</a:t>
            </a:r>
            <a:endParaRPr kumimoji="0" lang="en-US" altLang="zh-CN" sz="1800" b="0" i="0" u="none" strike="noStrike" kern="1200" cap="none" spc="15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44000" marR="0" lvl="1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/>
            </a:pPr>
            <a:r>
              <a:rPr kumimoji="0" lang="en-US" altLang="zh-CN" sz="1400" b="0" i="0" u="none" strike="noStrike" kern="1200" cap="none" spc="15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kumimoji="0" lang="en-US" altLang="zh-CN" sz="1400" b="0" i="0" u="none" strike="noStrike" kern="1200" cap="none" spc="15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highlight>
                  <a:srgbClr val="99CCFF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pip show </a:t>
            </a:r>
            <a:r>
              <a:rPr kumimoji="0" lang="en-US" altLang="zh-CN" sz="1400" b="0" i="0" u="none" strike="noStrike" kern="1200" cap="none" spc="15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highlight>
                  <a:srgbClr val="99CCFF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mindquantum</a:t>
            </a:r>
            <a:endParaRPr kumimoji="0" lang="en-US" altLang="zh-CN" sz="1400" b="0" i="0" u="none" strike="noStrike" kern="1200" cap="none" spc="150" normalizeH="0" baseline="0" noProof="0" dirty="0">
              <a:ln>
                <a:noFill/>
              </a:ln>
              <a:solidFill>
                <a:srgbClr val="1D1D1A"/>
              </a:solidFill>
              <a:effectLst/>
              <a:highlight>
                <a:srgbClr val="99CCFF"/>
              </a:highligh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1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/>
            </a:pPr>
            <a:endParaRPr kumimoji="0" lang="en-US" altLang="zh-CN" sz="1800" b="1" i="0" u="none" strike="noStrike" kern="1200" cap="none" spc="150" normalizeH="0" baseline="0" noProof="0" dirty="0">
              <a:ln>
                <a:noFill/>
              </a:ln>
              <a:solidFill>
                <a:srgbClr val="6096E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1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/>
            </a:pPr>
            <a:endParaRPr kumimoji="0" lang="en-US" altLang="zh-CN" sz="1800" b="1" i="0" u="none" strike="noStrike" kern="1200" cap="none" spc="150" normalizeH="0" baseline="0" noProof="0" dirty="0">
              <a:ln>
                <a:noFill/>
              </a:ln>
              <a:solidFill>
                <a:srgbClr val="6096E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44000" marR="0" lvl="1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/>
            </a:pPr>
            <a:r>
              <a:rPr kumimoji="0" lang="en-US" altLang="zh-CN" sz="1400" b="0" i="0" u="none" strike="noStrike" kern="1200" cap="none" spc="15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kumimoji="0" lang="en-US" altLang="zh-CN" sz="1400" b="0" i="0" u="none" strike="noStrike" kern="1200" cap="none" spc="15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highlight>
                  <a:srgbClr val="99CCFF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pip install </a:t>
            </a:r>
            <a:r>
              <a:rPr kumimoji="0" lang="en-US" altLang="zh-CN" sz="1400" b="0" i="0" u="none" strike="noStrike" kern="1200" cap="none" spc="15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highlight>
                  <a:srgbClr val="99CCFF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mindquantum</a:t>
            </a:r>
            <a:r>
              <a:rPr kumimoji="0" lang="en-US" altLang="zh-CN" sz="1400" b="0" i="0" u="none" strike="noStrike" kern="1200" cap="none" spc="15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highlight>
                  <a:srgbClr val="99CCFF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==0.8.0</a:t>
            </a:r>
          </a:p>
          <a:p>
            <a:pPr marL="288000" marR="0" lvl="1" indent="-2880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>
                <a:tab pos="1609725" algn="l"/>
                <a:tab pos="1609725" algn="l"/>
                <a:tab pos="1609725" algn="l"/>
                <a:tab pos="1609725" algn="l"/>
              </a:tabLst>
              <a:defRPr/>
            </a:pPr>
            <a:r>
              <a:rPr kumimoji="0" lang="zh-CN" altLang="en-US" sz="1800" b="0" i="0" u="none" strike="noStrike" kern="1200" cap="none" spc="15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点击</a:t>
            </a:r>
            <a:r>
              <a:rPr kumimoji="0" lang="zh-CN" altLang="en-US" sz="1800" b="1" i="0" u="none" strike="noStrike" kern="1200" cap="none" spc="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④创建</a:t>
            </a:r>
            <a:r>
              <a:rPr kumimoji="0" lang="en-US" altLang="zh-CN" sz="1800" b="1" i="0" u="none" strike="noStrike" kern="1200" cap="none" spc="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Notebook</a:t>
            </a:r>
            <a:r>
              <a:rPr kumimoji="0" lang="zh-CN" altLang="en-US" sz="1800" b="0" i="0" u="none" strike="noStrike" kern="1200" cap="none" spc="15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（*</a:t>
            </a:r>
            <a:r>
              <a:rPr kumimoji="0" lang="en-US" altLang="zh-CN" sz="1800" b="0" i="0" u="none" strike="noStrike" kern="1200" cap="none" spc="15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</a:t>
            </a:r>
            <a:r>
              <a:rPr kumimoji="0" lang="en-US" altLang="zh-CN" sz="1800" b="0" i="0" u="none" strike="noStrike" kern="1200" cap="none" spc="15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ipynb</a:t>
            </a:r>
            <a:r>
              <a:rPr kumimoji="0" lang="zh-CN" altLang="en-US" sz="1800" b="0" i="0" u="none" strike="noStrike" kern="1200" cap="none" spc="15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文件），接下来就可以在</a:t>
            </a:r>
            <a:r>
              <a:rPr kumimoji="0" lang="en-US" altLang="zh-CN" sz="1800" b="0" i="0" u="none" strike="noStrike" kern="1200" cap="none" spc="15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notebook</a:t>
            </a:r>
            <a:r>
              <a:rPr kumimoji="0" lang="zh-CN" altLang="en-US" sz="1800" b="0" i="0" u="none" strike="noStrike" kern="1200" cap="none" spc="15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上进行量子编程了。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2B650D9-B644-4E08-AF2F-3CDDB77BF5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2799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编程准备</a:t>
            </a:r>
            <a:r>
              <a:rPr lang="en-US" altLang="zh-CN" sz="2799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799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：创建开发实例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805D38A-3971-42D5-9EBA-443743C327CA}"/>
              </a:ext>
            </a:extLst>
          </p:cNvPr>
          <p:cNvGrpSpPr/>
          <p:nvPr/>
        </p:nvGrpSpPr>
        <p:grpSpPr>
          <a:xfrm>
            <a:off x="5694335" y="1460870"/>
            <a:ext cx="6182960" cy="3614762"/>
            <a:chOff x="5174989" y="1765920"/>
            <a:chExt cx="7321676" cy="4280494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E0E5BC03-6469-4A18-A9F5-3BCD70295A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95826" y="1765920"/>
              <a:ext cx="6900839" cy="4280494"/>
            </a:xfrm>
            <a:prstGeom prst="rect">
              <a:avLst/>
            </a:prstGeom>
          </p:spPr>
        </p:pic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5485E6E-6D9A-41F6-A36A-E6064E40B0D1}"/>
                </a:ext>
              </a:extLst>
            </p:cNvPr>
            <p:cNvSpPr/>
            <p:nvPr/>
          </p:nvSpPr>
          <p:spPr>
            <a:xfrm>
              <a:off x="5174989" y="3659169"/>
              <a:ext cx="492020" cy="4373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①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D7C02A88-D935-4492-9DBB-1F800E99F2DC}"/>
                </a:ext>
              </a:extLst>
            </p:cNvPr>
            <p:cNvSpPr/>
            <p:nvPr/>
          </p:nvSpPr>
          <p:spPr>
            <a:xfrm>
              <a:off x="8130232" y="3946248"/>
              <a:ext cx="492020" cy="4373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②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E557FD0-0FB3-4AEE-9AE1-AC1573E7048E}"/>
                </a:ext>
              </a:extLst>
            </p:cNvPr>
            <p:cNvSpPr/>
            <p:nvPr/>
          </p:nvSpPr>
          <p:spPr>
            <a:xfrm>
              <a:off x="9265808" y="5572495"/>
              <a:ext cx="492020" cy="4373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③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93B8368B-8061-49D8-8958-52F4C2110FFF}"/>
                </a:ext>
              </a:extLst>
            </p:cNvPr>
            <p:cNvSpPr/>
            <p:nvPr/>
          </p:nvSpPr>
          <p:spPr>
            <a:xfrm>
              <a:off x="9254529" y="4835660"/>
              <a:ext cx="492020" cy="4373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④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F6EA5584-AE6C-4B35-856E-2406D0B6F574}"/>
              </a:ext>
            </a:extLst>
          </p:cNvPr>
          <p:cNvSpPr/>
          <p:nvPr/>
        </p:nvSpPr>
        <p:spPr>
          <a:xfrm>
            <a:off x="11226671" y="1390650"/>
            <a:ext cx="723900" cy="48692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B5660D5-94C3-41B3-BC7F-69FBEE58A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597" y="3671430"/>
            <a:ext cx="3281848" cy="636277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A38ECB0-0329-4E49-9295-912C5AF52657}"/>
              </a:ext>
            </a:extLst>
          </p:cNvPr>
          <p:cNvSpPr/>
          <p:nvPr/>
        </p:nvSpPr>
        <p:spPr>
          <a:xfrm>
            <a:off x="8077754" y="14838"/>
            <a:ext cx="936000" cy="288000"/>
          </a:xfrm>
          <a:prstGeom prst="rect">
            <a:avLst/>
          </a:prstGeom>
          <a:solidFill>
            <a:schemeClr val="accent6"/>
          </a:solidFill>
        </p:spPr>
        <p:txBody>
          <a:bodyPr lIns="0" tIns="0" rIns="0" bIns="0" anchor="ctr">
            <a:noAutofit/>
          </a:bodyPr>
          <a:lstStyle/>
          <a:p>
            <a:pPr marL="0" marR="0" lvl="0" indent="0" algn="ctr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编程准备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4354EE-8C2A-4E4C-8027-C7DFCBB7154C}"/>
              </a:ext>
            </a:extLst>
          </p:cNvPr>
          <p:cNvSpPr/>
          <p:nvPr/>
        </p:nvSpPr>
        <p:spPr>
          <a:xfrm>
            <a:off x="9013754" y="14838"/>
            <a:ext cx="1296000" cy="288000"/>
          </a:xfrm>
          <a:prstGeom prst="rect">
            <a:avLst/>
          </a:prstGeom>
          <a:solidFill>
            <a:schemeClr val="tx2">
              <a:lumMod val="85000"/>
            </a:schemeClr>
          </a:solidFill>
        </p:spPr>
        <p:txBody>
          <a:bodyPr lIns="0" tIns="0" rIns="0" bIns="0" anchor="ctr">
            <a:noAutofit/>
          </a:bodyPr>
          <a:lstStyle/>
          <a:p>
            <a:pPr marL="0" marR="0" lvl="0" indent="0" algn="ctr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量子线路编程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1D6914E-3CF3-41B8-98CB-1D5372BD6E29}"/>
              </a:ext>
            </a:extLst>
          </p:cNvPr>
          <p:cNvSpPr/>
          <p:nvPr/>
        </p:nvSpPr>
        <p:spPr>
          <a:xfrm>
            <a:off x="10321637" y="14838"/>
            <a:ext cx="1296000" cy="288000"/>
          </a:xfrm>
          <a:prstGeom prst="rect">
            <a:avLst/>
          </a:prstGeom>
          <a:solidFill>
            <a:schemeClr val="tx2">
              <a:lumMod val="85000"/>
            </a:schemeClr>
          </a:solidFill>
        </p:spPr>
        <p:txBody>
          <a:bodyPr lIns="0" tIns="0" rIns="0" bIns="0" anchor="ctr">
            <a:noAutofit/>
          </a:bodyPr>
          <a:lstStyle/>
          <a:p>
            <a:pPr marL="0" marR="0" lvl="0" indent="0" algn="ctr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变分算法编程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7A4CF87-D735-4E1C-BEE7-C00849BD1663}"/>
              </a:ext>
            </a:extLst>
          </p:cNvPr>
          <p:cNvCxnSpPr/>
          <p:nvPr/>
        </p:nvCxnSpPr>
        <p:spPr>
          <a:xfrm>
            <a:off x="9013754" y="14838"/>
            <a:ext cx="0" cy="28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C3834E0-A644-4F33-A50E-2531820B871C}"/>
              </a:ext>
            </a:extLst>
          </p:cNvPr>
          <p:cNvCxnSpPr/>
          <p:nvPr/>
        </p:nvCxnSpPr>
        <p:spPr>
          <a:xfrm>
            <a:off x="10315695" y="14838"/>
            <a:ext cx="0" cy="28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381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325F0F8E-245D-4B68-A0F7-A85F267945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MindQuantum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模块组成</a:t>
            </a:r>
            <a:endParaRPr lang="zh-CN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F2DFEA4-7D4E-4964-9A4E-EB5BC1F5EF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373900"/>
              </p:ext>
            </p:extLst>
          </p:nvPr>
        </p:nvGraphicFramePr>
        <p:xfrm>
          <a:off x="540000" y="2019956"/>
          <a:ext cx="10947378" cy="3962151"/>
        </p:xfrm>
        <a:graphic>
          <a:graphicData uri="http://schemas.openxmlformats.org/drawingml/2006/table">
            <a:tbl>
              <a:tblPr/>
              <a:tblGrid>
                <a:gridCol w="5153921">
                  <a:extLst>
                    <a:ext uri="{9D8B030D-6E8A-4147-A177-3AD203B41FA5}">
                      <a16:colId xmlns:a16="http://schemas.microsoft.com/office/drawing/2014/main" val="137577645"/>
                    </a:ext>
                  </a:extLst>
                </a:gridCol>
                <a:gridCol w="5793457">
                  <a:extLst>
                    <a:ext uri="{9D8B030D-6E8A-4147-A177-3AD203B41FA5}">
                      <a16:colId xmlns:a16="http://schemas.microsoft.com/office/drawing/2014/main" val="1146878210"/>
                    </a:ext>
                  </a:extLst>
                </a:gridCol>
              </a:tblGrid>
              <a:tr h="44023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baseline="0" dirty="0" err="1">
                          <a:solidFill>
                            <a:srgbClr val="379B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2" tooltip="mindquantum.dtype"/>
                        </a:rPr>
                        <a:t>mindquantum.dtype</a:t>
                      </a:r>
                      <a:endParaRPr lang="en-US" sz="2000" baseline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890" marR="131890" marT="65945" marB="6594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aseline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MindQuantum </a:t>
                      </a:r>
                      <a:r>
                        <a:rPr lang="zh-CN" altLang="en-US" sz="2000" baseline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数据类型模拟。</a:t>
                      </a:r>
                    </a:p>
                  </a:txBody>
                  <a:tcPr marL="131890" marR="131890" marT="65945" marB="6594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471431"/>
                  </a:ext>
                </a:extLst>
              </a:tr>
              <a:tr h="44023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baseline="0">
                          <a:solidFill>
                            <a:srgbClr val="379B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3" tooltip="mindquantum.core"/>
                        </a:rPr>
                        <a:t>mindquantum.core</a:t>
                      </a:r>
                      <a:endParaRPr lang="en-US" sz="2000" baseline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890" marR="131890" marT="65945" marB="6594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aseline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MindQuantum</a:t>
                      </a:r>
                      <a:r>
                        <a:rPr lang="zh-CN" altLang="en-US" sz="2000" baseline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的核心特性</a:t>
                      </a:r>
                      <a:r>
                        <a:rPr lang="en-US" altLang="zh-CN" sz="2000" baseline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2000" baseline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eDSL)。</a:t>
                      </a:r>
                    </a:p>
                  </a:txBody>
                  <a:tcPr marL="131890" marR="131890" marT="65945" marB="6594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807771"/>
                  </a:ext>
                </a:extLst>
              </a:tr>
              <a:tr h="44023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baseline="0">
                          <a:solidFill>
                            <a:srgbClr val="379B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4" tooltip="mindquantum.simulator"/>
                        </a:rPr>
                        <a:t>mindquantum.simulator</a:t>
                      </a:r>
                      <a:endParaRPr lang="en-US" sz="2000" baseline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890" marR="131890" marT="65945" marB="6594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aseline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模拟量子系统演化的量子模拟器。</a:t>
                      </a:r>
                    </a:p>
                  </a:txBody>
                  <a:tcPr marL="131890" marR="131890" marT="65945" marB="6594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471826"/>
                  </a:ext>
                </a:extLst>
              </a:tr>
              <a:tr h="44023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baseline="0">
                          <a:solidFill>
                            <a:srgbClr val="379B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5" tooltip="mindquantum.framework"/>
                        </a:rPr>
                        <a:t>mindquantum.framework</a:t>
                      </a:r>
                      <a:endParaRPr lang="en-US" sz="2000" baseline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890" marR="131890" marT="65945" marB="6594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aseline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量子神经网络算子和</a:t>
                      </a:r>
                      <a:r>
                        <a:rPr lang="en-US" altLang="zh-CN" sz="2000" baseline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cell</a:t>
                      </a:r>
                      <a:r>
                        <a:rPr lang="zh-CN" altLang="en-US" sz="2000" baseline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marL="131890" marR="131890" marT="65945" marB="6594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709480"/>
                  </a:ext>
                </a:extLst>
              </a:tr>
              <a:tr h="44023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baseline="0">
                          <a:solidFill>
                            <a:srgbClr val="379B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6" tooltip="mindquantum.algorithm"/>
                        </a:rPr>
                        <a:t>mindquantum.algorithm</a:t>
                      </a:r>
                      <a:endParaRPr lang="en-US" sz="2000" baseline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890" marR="131890" marT="65945" marB="6594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aseline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量子算法。</a:t>
                      </a:r>
                    </a:p>
                  </a:txBody>
                  <a:tcPr marL="131890" marR="131890" marT="65945" marB="6594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601416"/>
                  </a:ext>
                </a:extLst>
              </a:tr>
              <a:tr h="44023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baseline="0">
                          <a:solidFill>
                            <a:srgbClr val="379B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7" tooltip="mindquantum.device"/>
                        </a:rPr>
                        <a:t>mindquantum.device</a:t>
                      </a:r>
                      <a:endParaRPr lang="en-US" sz="2000" baseline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890" marR="131890" marT="65945" marB="6594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aseline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MindQuantum </a:t>
                      </a:r>
                      <a:r>
                        <a:rPr lang="zh-CN" altLang="en-US" sz="2000" baseline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硬件模块。</a:t>
                      </a:r>
                    </a:p>
                  </a:txBody>
                  <a:tcPr marL="131890" marR="131890" marT="65945" marB="6594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717577"/>
                  </a:ext>
                </a:extLst>
              </a:tr>
              <a:tr h="44023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baseline="0">
                          <a:solidFill>
                            <a:srgbClr val="379B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8" tooltip="mindquantum.io"/>
                        </a:rPr>
                        <a:t>mindquantum.io</a:t>
                      </a:r>
                      <a:endParaRPr lang="en-US" sz="2000" baseline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890" marR="131890" marT="65945" marB="6594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aseline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MindQuantum</a:t>
                      </a:r>
                      <a:r>
                        <a:rPr lang="zh-CN" altLang="en-US" sz="2000" baseline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的输入</a:t>
                      </a:r>
                      <a:r>
                        <a:rPr lang="en-US" altLang="zh-CN" sz="2000" baseline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2000" baseline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输出模块。</a:t>
                      </a:r>
                    </a:p>
                  </a:txBody>
                  <a:tcPr marL="131890" marR="131890" marT="65945" marB="6594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500811"/>
                  </a:ext>
                </a:extLst>
              </a:tr>
              <a:tr h="44023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baseline="0">
                          <a:solidFill>
                            <a:srgbClr val="379B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9" tooltip="mindquantum.engine"/>
                        </a:rPr>
                        <a:t>mindquantum.engine</a:t>
                      </a:r>
                      <a:endParaRPr lang="en-US" sz="2000" baseline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890" marR="131890" marT="65945" marB="6594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aseline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MindQuantum</a:t>
                      </a:r>
                      <a:r>
                        <a:rPr lang="zh-CN" altLang="en-US" sz="2000" baseline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引擎模块。</a:t>
                      </a:r>
                    </a:p>
                  </a:txBody>
                  <a:tcPr marL="131890" marR="131890" marT="65945" marB="6594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496392"/>
                  </a:ext>
                </a:extLst>
              </a:tr>
              <a:tr h="44023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baseline="0">
                          <a:solidFill>
                            <a:srgbClr val="379B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10" tooltip="mindquantum.utils"/>
                        </a:rPr>
                        <a:t>mindquantum.utils</a:t>
                      </a:r>
                      <a:endParaRPr lang="en-US" sz="2000" baseline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1890" marR="131890" marT="65945" marB="6594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baseline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实用工具。</a:t>
                      </a:r>
                    </a:p>
                  </a:txBody>
                  <a:tcPr marL="131890" marR="131890" marT="65945" marB="65945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071018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33EFC070-B09B-450F-805F-2EC870F26C6C}"/>
              </a:ext>
            </a:extLst>
          </p:cNvPr>
          <p:cNvSpPr/>
          <p:nvPr/>
        </p:nvSpPr>
        <p:spPr>
          <a:xfrm>
            <a:off x="540000" y="1489425"/>
            <a:ext cx="40398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MindQuantum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由以下模块构成：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6393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325F0F8E-245D-4B68-A0F7-A85F267945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MindQuantum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模块介绍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en-US" altLang="zh-CN" dirty="0"/>
              <a:t>simulator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0ADAE45C-43FD-43A1-B75A-15FBFEF305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9967" y="1316621"/>
                <a:ext cx="11198518" cy="16804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179316" lvl="0" indent="-168208" defTabSz="1187323">
                  <a:lnSpc>
                    <a:spcPct val="150000"/>
                  </a:lnSpc>
                  <a:spcAft>
                    <a:spcPts val="600"/>
                  </a:spcAft>
                  <a:buClr>
                    <a:srgbClr val="000000"/>
                  </a:buClr>
                  <a:buFont typeface="Arial" panose="020B0604020202020204" pitchFamily="34" charset="0"/>
                  <a:buChar char="•"/>
                  <a:tabLst>
                    <a:tab pos="1207605" algn="ctr"/>
                  </a:tabLst>
                  <a:defRPr sz="2000">
                    <a:solidFill>
                      <a:srgbClr val="1D1D1A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cs typeface="Arial" panose="020B0604020202020204" pitchFamily="34" charset="0"/>
                  </a:defRPr>
                </a:lvl1pPr>
                <a:lvl2pPr marL="890493" indent="-296831" algn="l" defTabSz="1187323" rtl="0" eaLnBrk="1" latinLnBrk="0" hangingPunct="1">
                  <a:lnSpc>
                    <a:spcPct val="90000"/>
                  </a:lnSpc>
                  <a:spcBef>
                    <a:spcPts val="650"/>
                  </a:spcBef>
                  <a:buFont typeface="Arial" panose="020B0604020202020204" pitchFamily="34" charset="0"/>
                  <a:buChar char="•"/>
                  <a:defRPr sz="311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484154" indent="-296831" algn="l" defTabSz="1187323" rtl="0" eaLnBrk="1" latinLnBrk="0" hangingPunct="1">
                  <a:lnSpc>
                    <a:spcPct val="90000"/>
                  </a:lnSpc>
                  <a:spcBef>
                    <a:spcPts val="650"/>
                  </a:spcBef>
                  <a:buFont typeface="Arial" panose="020B0604020202020204" pitchFamily="34" charset="0"/>
                  <a:buChar char="•"/>
                  <a:defRPr sz="259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077817" indent="-296831" algn="l" defTabSz="1187323" rtl="0" eaLnBrk="1" latinLnBrk="0" hangingPunct="1">
                  <a:lnSpc>
                    <a:spcPct val="90000"/>
                  </a:lnSpc>
                  <a:spcBef>
                    <a:spcPts val="650"/>
                  </a:spcBef>
                  <a:buFont typeface="Arial" panose="020B0604020202020204" pitchFamily="34" charset="0"/>
                  <a:buChar char="•"/>
                  <a:defRPr sz="233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671478" indent="-296831" algn="l" defTabSz="1187323" rtl="0" eaLnBrk="1" latinLnBrk="0" hangingPunct="1">
                  <a:lnSpc>
                    <a:spcPct val="90000"/>
                  </a:lnSpc>
                  <a:spcBef>
                    <a:spcPts val="650"/>
                  </a:spcBef>
                  <a:buFont typeface="Arial" panose="020B0604020202020204" pitchFamily="34" charset="0"/>
                  <a:buChar char="•"/>
                  <a:defRPr sz="233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265140" indent="-296831" algn="l" defTabSz="1187323" rtl="0" eaLnBrk="1" latinLnBrk="0" hangingPunct="1">
                  <a:lnSpc>
                    <a:spcPct val="90000"/>
                  </a:lnSpc>
                  <a:spcBef>
                    <a:spcPts val="650"/>
                  </a:spcBef>
                  <a:buFont typeface="Arial" panose="020B0604020202020204" pitchFamily="34" charset="0"/>
                  <a:buChar char="•"/>
                  <a:defRPr sz="233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858802" indent="-296831" algn="l" defTabSz="1187323" rtl="0" eaLnBrk="1" latinLnBrk="0" hangingPunct="1">
                  <a:lnSpc>
                    <a:spcPct val="90000"/>
                  </a:lnSpc>
                  <a:spcBef>
                    <a:spcPts val="650"/>
                  </a:spcBef>
                  <a:buFont typeface="Arial" panose="020B0604020202020204" pitchFamily="34" charset="0"/>
                  <a:buChar char="•"/>
                  <a:defRPr sz="233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452463" indent="-296831" algn="l" defTabSz="1187323" rtl="0" eaLnBrk="1" latinLnBrk="0" hangingPunct="1">
                  <a:lnSpc>
                    <a:spcPct val="90000"/>
                  </a:lnSpc>
                  <a:spcBef>
                    <a:spcPts val="650"/>
                  </a:spcBef>
                  <a:buFont typeface="Arial" panose="020B0604020202020204" pitchFamily="34" charset="0"/>
                  <a:buChar char="•"/>
                  <a:defRPr sz="233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046125" indent="-296831" algn="l" defTabSz="1187323" rtl="0" eaLnBrk="1" latinLnBrk="0" hangingPunct="1">
                  <a:lnSpc>
                    <a:spcPct val="90000"/>
                  </a:lnSpc>
                  <a:spcBef>
                    <a:spcPts val="650"/>
                  </a:spcBef>
                  <a:buFont typeface="Arial" panose="020B0604020202020204" pitchFamily="34" charset="0"/>
                  <a:buChar char="•"/>
                  <a:defRPr sz="233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1600" dirty="0"/>
                  <a:t>Simulator</a:t>
                </a:r>
                <a:r>
                  <a:rPr lang="zh-CN" altLang="en-US" sz="1600" dirty="0"/>
                  <a:t>类中维护着一个量子态，初始处于</a:t>
                </a:r>
                <a14:m>
                  <m:oMath xmlns:m="http://schemas.openxmlformats.org/officeDocument/2006/math">
                    <m:r>
                      <a:rPr lang="en-US" altLang="zh-CN" sz="1600">
                        <a:latin typeface="Cambria Math" panose="02040503050406030204" pitchFamily="18" charset="0"/>
                      </a:rPr>
                      <m:t>|0⟩</m:t>
                    </m:r>
                    <m:r>
                      <a:rPr lang="zh-CN" altLang="en-US" sz="1600">
                        <a:latin typeface="Cambria Math" panose="02040503050406030204" pitchFamily="18" charset="0"/>
                      </a:rPr>
                      <m:t>态</m:t>
                    </m:r>
                  </m:oMath>
                </a14:m>
                <a:r>
                  <a:rPr lang="zh-CN" altLang="en-US" sz="1600" dirty="0"/>
                  <a:t>。通过作用量子线路，它可以模拟量子态的演化。</a:t>
                </a:r>
                <a:endParaRPr lang="en-US" altLang="zh-CN" sz="1600" dirty="0"/>
              </a:p>
              <a:p>
                <a:r>
                  <a:rPr lang="zh-CN" altLang="en-US" sz="1600" dirty="0"/>
                  <a:t>一个</a:t>
                </a:r>
                <a:r>
                  <a:rPr lang="en-US" altLang="zh-CN" sz="1600" dirty="0"/>
                  <a:t>Simulator</a:t>
                </a:r>
                <a:r>
                  <a:rPr lang="zh-CN" altLang="en-US" sz="1600" dirty="0"/>
                  <a:t>的类实例相当于一台理想的量子计算机。但随着比特数的增加，模拟成本呈指数上升，因此普通的家用电脑最多能模拟</a:t>
                </a:r>
                <a:r>
                  <a:rPr lang="en-US" altLang="zh-CN" sz="1600" dirty="0"/>
                  <a:t>30</a:t>
                </a:r>
                <a:r>
                  <a:rPr lang="zh-CN" altLang="en-US" sz="1600" dirty="0"/>
                  <a:t>个比特左右。</a:t>
                </a:r>
                <a:endParaRPr lang="en-US" altLang="zh-CN" sz="1600" dirty="0"/>
              </a:p>
              <a:p>
                <a:r>
                  <a:rPr lang="en-US" altLang="zh-CN" sz="1600" dirty="0"/>
                  <a:t>Simulator</a:t>
                </a:r>
                <a:r>
                  <a:rPr lang="zh-CN" altLang="en-US" sz="1600" dirty="0"/>
                  <a:t>还可以模拟采样过程，即反复运行量子线路并测量，得到统计结果。这类似于真实量子计算机的工作方式。</a:t>
                </a:r>
              </a:p>
            </p:txBody>
          </p:sp>
        </mc:Choice>
        <mc:Fallback xmlns="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0ADAE45C-43FD-43A1-B75A-15FBFEF30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67" y="1316621"/>
                <a:ext cx="11198518" cy="1680460"/>
              </a:xfrm>
              <a:prstGeom prst="rect">
                <a:avLst/>
              </a:prstGeom>
              <a:blipFill>
                <a:blip r:embed="rId2"/>
                <a:stretch>
                  <a:fillRect l="-109" b="-36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DCE7AF87-D92F-468C-983B-97B14EFF9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3429000"/>
            <a:ext cx="5494546" cy="249492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D535BE4-3568-4FCD-8D10-E6CA4222C1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416617"/>
            <a:ext cx="5560172" cy="220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124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B6E83BFB-AA5A-4079-94AF-AAD0BBF82AA9}"/>
              </a:ext>
            </a:extLst>
          </p:cNvPr>
          <p:cNvSpPr/>
          <p:nvPr/>
        </p:nvSpPr>
        <p:spPr>
          <a:xfrm>
            <a:off x="6529184" y="5567979"/>
            <a:ext cx="4031225" cy="830997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quantum state: [0.70710678+0.j 0.70710678+0.j]</a:t>
            </a:r>
          </a:p>
          <a:p>
            <a:pPr lvl="0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ket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lvl="0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√2/2¦0⟩</a:t>
            </a:r>
          </a:p>
          <a:p>
            <a:pPr lvl="0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√2/2¦1⟩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BCBE89D-7DB7-4F34-8A5F-0F01A29B6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171" y="469156"/>
            <a:ext cx="10943103" cy="416539"/>
          </a:xfrm>
        </p:spPr>
        <p:txBody>
          <a:bodyPr/>
          <a:lstStyle/>
          <a:p>
            <a:r>
              <a:rPr lang="zh-CN" altLang="en-US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编程实践：量子模拟器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0924529-F334-4BEC-9F88-16D7A1E2407F}"/>
              </a:ext>
            </a:extLst>
          </p:cNvPr>
          <p:cNvSpPr/>
          <p:nvPr/>
        </p:nvSpPr>
        <p:spPr>
          <a:xfrm>
            <a:off x="8076980" y="16171"/>
            <a:ext cx="935635" cy="287888"/>
          </a:xfrm>
          <a:prstGeom prst="rect">
            <a:avLst/>
          </a:prstGeom>
          <a:solidFill>
            <a:schemeClr val="tx2">
              <a:lumMod val="85000"/>
            </a:schemeClr>
          </a:solidFill>
        </p:spPr>
        <p:txBody>
          <a:bodyPr lIns="0" tIns="0" rIns="0" bIns="0" anchor="ctr">
            <a:noAutofit/>
          </a:bodyPr>
          <a:lstStyle/>
          <a:p>
            <a:pPr marL="0" marR="0" lvl="0" indent="0" algn="ctr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编程准备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B825C73-1CB7-41AD-9004-A067D1967EFD}"/>
              </a:ext>
            </a:extLst>
          </p:cNvPr>
          <p:cNvSpPr/>
          <p:nvPr/>
        </p:nvSpPr>
        <p:spPr>
          <a:xfrm>
            <a:off x="9012615" y="16171"/>
            <a:ext cx="1295494" cy="287888"/>
          </a:xfrm>
          <a:prstGeom prst="rect">
            <a:avLst/>
          </a:prstGeom>
          <a:solidFill>
            <a:schemeClr val="accent6"/>
          </a:solidFill>
        </p:spPr>
        <p:txBody>
          <a:bodyPr lIns="0" tIns="0" rIns="0" bIns="0" anchor="ctr">
            <a:noAutofit/>
          </a:bodyPr>
          <a:lstStyle/>
          <a:p>
            <a:pPr marL="0" marR="0" lvl="0" indent="0" algn="ctr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量子线路编程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72ACB62-FD8A-41E4-8DA9-C4B9463BC36C}"/>
              </a:ext>
            </a:extLst>
          </p:cNvPr>
          <p:cNvSpPr/>
          <p:nvPr/>
        </p:nvSpPr>
        <p:spPr>
          <a:xfrm>
            <a:off x="10319987" y="16171"/>
            <a:ext cx="1295494" cy="287888"/>
          </a:xfrm>
          <a:prstGeom prst="rect">
            <a:avLst/>
          </a:prstGeom>
          <a:solidFill>
            <a:schemeClr val="tx2">
              <a:lumMod val="85000"/>
            </a:schemeClr>
          </a:solidFill>
        </p:spPr>
        <p:txBody>
          <a:bodyPr lIns="0" tIns="0" rIns="0" bIns="0" anchor="ctr">
            <a:noAutofit/>
          </a:bodyPr>
          <a:lstStyle/>
          <a:p>
            <a:pPr marL="0" marR="0" lvl="0" indent="0" algn="ctr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变分算法编程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E23DB8E-3607-4E02-8539-C44D77E43746}"/>
              </a:ext>
            </a:extLst>
          </p:cNvPr>
          <p:cNvCxnSpPr/>
          <p:nvPr/>
        </p:nvCxnSpPr>
        <p:spPr>
          <a:xfrm>
            <a:off x="9012615" y="16171"/>
            <a:ext cx="0" cy="287888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00E389AB-BCAD-4367-B132-C298F51BDF9F}"/>
              </a:ext>
            </a:extLst>
          </p:cNvPr>
          <p:cNvCxnSpPr/>
          <p:nvPr/>
        </p:nvCxnSpPr>
        <p:spPr>
          <a:xfrm>
            <a:off x="10314047" y="16171"/>
            <a:ext cx="0" cy="287888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F55B57F1-F289-45C6-889C-45E9A215755B}"/>
              </a:ext>
            </a:extLst>
          </p:cNvPr>
          <p:cNvSpPr txBox="1"/>
          <p:nvPr/>
        </p:nvSpPr>
        <p:spPr>
          <a:xfrm>
            <a:off x="542171" y="1089607"/>
            <a:ext cx="2160000" cy="10365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 sz="2000"/>
            </a:lvl1pPr>
          </a:lstStyle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导入依赖包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F6A9261-BC1C-40AD-A0B5-E6DE5C5E0CC2}"/>
              </a:ext>
            </a:extLst>
          </p:cNvPr>
          <p:cNvSpPr txBox="1"/>
          <p:nvPr/>
        </p:nvSpPr>
        <p:spPr>
          <a:xfrm>
            <a:off x="542171" y="2361093"/>
            <a:ext cx="2160000" cy="7465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 defTabSz="914034">
              <a:defRPr sz="1599" b="1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实例化模拟器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67D98C1-FE18-424B-9E09-2E987F17797C}"/>
              </a:ext>
            </a:extLst>
          </p:cNvPr>
          <p:cNvSpPr txBox="1"/>
          <p:nvPr/>
        </p:nvSpPr>
        <p:spPr>
          <a:xfrm>
            <a:off x="542170" y="3338359"/>
            <a:ext cx="2160000" cy="799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 defTabSz="914034">
              <a:defRPr sz="1599" b="1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设置量子态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23EA581-09EE-4590-9C4B-FEEDB8C4E922}"/>
              </a:ext>
            </a:extLst>
          </p:cNvPr>
          <p:cNvSpPr txBox="1"/>
          <p:nvPr/>
        </p:nvSpPr>
        <p:spPr>
          <a:xfrm>
            <a:off x="542170" y="4388810"/>
            <a:ext cx="2160000" cy="9339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 defTabSz="914034">
              <a:defRPr sz="1599" b="1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获取量子态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C2C6F2-E467-4EF5-B82B-827C33633E9E}"/>
              </a:ext>
            </a:extLst>
          </p:cNvPr>
          <p:cNvSpPr/>
          <p:nvPr/>
        </p:nvSpPr>
        <p:spPr>
          <a:xfrm>
            <a:off x="3081433" y="1551272"/>
            <a:ext cx="8300127" cy="574841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numpy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as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6F42C1"/>
                </a:solidFill>
                <a:latin typeface="Consolas" panose="020B0609020204030204" pitchFamily="49" charset="0"/>
              </a:rPr>
              <a:t>np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                         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导入</a:t>
            </a:r>
            <a:r>
              <a:rPr lang="en-US" altLang="zh-CN" sz="1400" dirty="0" err="1">
                <a:solidFill>
                  <a:srgbClr val="6A737D"/>
                </a:solidFill>
                <a:latin typeface="Consolas" panose="020B0609020204030204" pitchFamily="49" charset="0"/>
              </a:rPr>
              <a:t>numpy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库并简写为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np</a:t>
            </a:r>
            <a:endParaRPr lang="en-US" altLang="zh-CN" sz="1400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from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mindquantum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simulator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6F42C1"/>
                </a:solidFill>
                <a:latin typeface="Consolas" panose="020B0609020204030204" pitchFamily="49" charset="0"/>
              </a:rPr>
              <a:t>Simulator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导入模拟器</a:t>
            </a:r>
            <a:endParaRPr lang="zh-CN" altLang="en-US" sz="1400" dirty="0">
              <a:solidFill>
                <a:srgbClr val="24292E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5AD82B-72E7-4376-BF33-CA946688F3B0}"/>
              </a:ext>
            </a:extLst>
          </p:cNvPr>
          <p:cNvSpPr/>
          <p:nvPr/>
        </p:nvSpPr>
        <p:spPr>
          <a:xfrm>
            <a:off x="3081433" y="2633847"/>
            <a:ext cx="8300127" cy="473777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sim </a:t>
            </a:r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6F42C1"/>
                </a:solidFill>
                <a:latin typeface="Consolas" panose="020B0609020204030204" pitchFamily="49" charset="0"/>
              </a:rPr>
              <a:t>Simulator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32F62"/>
                </a:solidFill>
                <a:latin typeface="Consolas" panose="020B0609020204030204" pitchFamily="49" charset="0"/>
              </a:rPr>
              <a:t>'</a:t>
            </a:r>
            <a:r>
              <a:rPr lang="en-US" altLang="zh-CN" sz="1400" dirty="0" err="1">
                <a:solidFill>
                  <a:srgbClr val="032F62"/>
                </a:solidFill>
                <a:latin typeface="Consolas" panose="020B0609020204030204" pitchFamily="49" charset="0"/>
              </a:rPr>
              <a:t>mqvector</a:t>
            </a:r>
            <a:r>
              <a:rPr lang="en-US" altLang="zh-CN" sz="1400" dirty="0">
                <a:solidFill>
                  <a:srgbClr val="032F62"/>
                </a:solidFill>
                <a:latin typeface="Consolas" panose="020B0609020204030204" pitchFamily="49" charset="0"/>
              </a:rPr>
              <a:t>'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)  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实例化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'</a:t>
            </a:r>
            <a:r>
              <a:rPr lang="en-US" altLang="zh-CN" sz="1400" dirty="0" err="1">
                <a:solidFill>
                  <a:srgbClr val="6A737D"/>
                </a:solidFill>
                <a:latin typeface="Consolas" panose="020B0609020204030204" pitchFamily="49" charset="0"/>
              </a:rPr>
              <a:t>mqvector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'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模拟器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量子比特数为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1</a:t>
            </a:r>
            <a:endParaRPr lang="zh-CN" altLang="en-US" sz="1400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(sim)                      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打印模拟器信息</a:t>
            </a:r>
            <a:endParaRPr lang="zh-CN" altLang="en-US" sz="1400" dirty="0">
              <a:solidFill>
                <a:srgbClr val="24292E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A7FC684-15FE-4355-8EDE-AC261C30150F}"/>
              </a:ext>
            </a:extLst>
          </p:cNvPr>
          <p:cNvSpPr/>
          <p:nvPr/>
        </p:nvSpPr>
        <p:spPr>
          <a:xfrm>
            <a:off x="3081432" y="3615358"/>
            <a:ext cx="8300127" cy="523220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plus_state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np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array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([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])   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构造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¦+⟩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态</a:t>
            </a:r>
            <a:endParaRPr lang="zh-CN" altLang="en-US" sz="1400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sim.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set_qs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plus_state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)          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将量子态设置为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¦+⟩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态</a:t>
            </a:r>
            <a:endParaRPr lang="zh-CN" altLang="en-US" sz="1400" dirty="0">
              <a:solidFill>
                <a:srgbClr val="24292E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08EE5C-516A-4BE2-95B0-5F129209CB6D}"/>
              </a:ext>
            </a:extLst>
          </p:cNvPr>
          <p:cNvSpPr/>
          <p:nvPr/>
        </p:nvSpPr>
        <p:spPr>
          <a:xfrm>
            <a:off x="3081435" y="4382806"/>
            <a:ext cx="8300127" cy="939936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quantum_state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sim.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get_qs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()    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获取当前量子态</a:t>
            </a:r>
            <a:endParaRPr lang="zh-CN" altLang="en-US" sz="1400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ket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sim.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get_qs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E36209"/>
                </a:solidFill>
                <a:latin typeface="Consolas" panose="020B0609020204030204" pitchFamily="49" charset="0"/>
              </a:rPr>
              <a:t>ket</a:t>
            </a:r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True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)      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获取当前量子态的狄拉克符号形式</a:t>
            </a:r>
            <a:endParaRPr lang="zh-CN" altLang="en-US" sz="1400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32F62"/>
                </a:solidFill>
                <a:latin typeface="Consolas" panose="020B0609020204030204" pitchFamily="49" charset="0"/>
              </a:rPr>
              <a:t>'quantum state:'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quantum_state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32F62"/>
                </a:solidFill>
                <a:latin typeface="Consolas" panose="020B0609020204030204" pitchFamily="49" charset="0"/>
              </a:rPr>
              <a:t>'</a:t>
            </a:r>
            <a:r>
              <a:rPr lang="en-US" altLang="zh-CN" sz="1400" dirty="0" err="1">
                <a:solidFill>
                  <a:srgbClr val="032F62"/>
                </a:solidFill>
                <a:latin typeface="Consolas" panose="020B0609020204030204" pitchFamily="49" charset="0"/>
              </a:rPr>
              <a:t>ket</a:t>
            </a:r>
            <a:r>
              <a:rPr lang="en-US" altLang="zh-CN" sz="1400" dirty="0">
                <a:solidFill>
                  <a:srgbClr val="032F62"/>
                </a:solidFill>
                <a:latin typeface="Consolas" panose="020B0609020204030204" pitchFamily="49" charset="0"/>
              </a:rPr>
              <a:t>: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\n</a:t>
            </a:r>
            <a:r>
              <a:rPr lang="en-US" altLang="zh-CN" sz="1400" dirty="0">
                <a:solidFill>
                  <a:srgbClr val="032F62"/>
                </a:solidFill>
                <a:latin typeface="Consolas" panose="020B0609020204030204" pitchFamily="49" charset="0"/>
              </a:rPr>
              <a:t>'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ket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9DBC967-C6D4-47F8-9D79-D6A031D4E59D}"/>
              </a:ext>
            </a:extLst>
          </p:cNvPr>
          <p:cNvSpPr/>
          <p:nvPr/>
        </p:nvSpPr>
        <p:spPr>
          <a:xfrm>
            <a:off x="963353" y="5567979"/>
            <a:ext cx="5285561" cy="830997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mqvector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simulator with 1 qubit (little endian).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Current quantum state: 1¦0⟩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等线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D15C098-87FF-4FC0-86F1-51A8709712BD}"/>
              </a:ext>
            </a:extLst>
          </p:cNvPr>
          <p:cNvSpPr/>
          <p:nvPr/>
        </p:nvSpPr>
        <p:spPr>
          <a:xfrm>
            <a:off x="540002" y="6583773"/>
            <a:ext cx="1668331" cy="30765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方正兰亭黑简体" panose="02000000000000000000" pitchFamily="2" charset="-122"/>
                <a:cs typeface="+mn-cs"/>
              </a:rPr>
              <a:t>mindquantum</a:t>
            </a:r>
            <a:r>
              <a:rPr kumimoji="0" lang="en-US" altLang="zh-CN" sz="1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方正兰亭黑简体" panose="02000000000000000000" pitchFamily="2" charset="-122"/>
                <a:cs typeface="+mn-cs"/>
              </a:rPr>
              <a:t> 0.8.0 </a:t>
            </a:r>
            <a:endParaRPr kumimoji="0" lang="zh-CN" altLang="en-US" sz="1399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670DFEC-5D20-495C-9A83-F3F8ABB48E61}"/>
              </a:ext>
            </a:extLst>
          </p:cNvPr>
          <p:cNvSpPr txBox="1"/>
          <p:nvPr/>
        </p:nvSpPr>
        <p:spPr>
          <a:xfrm>
            <a:off x="3081434" y="1089607"/>
            <a:ext cx="8300127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/>
            </a:lvl1pPr>
          </a:lstStyle>
          <a:p>
            <a:pPr marL="285750" indent="-285750" algn="l" defTabSz="914400">
              <a:buFont typeface="Arial" panose="020B0604020202020204" pitchFamily="34" charset="0"/>
              <a:buChar char="•"/>
              <a:defRPr/>
            </a:pPr>
            <a:r>
              <a:rPr lang="en-US" altLang="zh-CN" sz="1200" kern="0" dirty="0" err="1">
                <a:solidFill>
                  <a:srgbClr val="1D1D1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Numpy</a:t>
            </a:r>
            <a:r>
              <a:rPr lang="en-US" altLang="zh-CN" sz="1200" kern="0" dirty="0">
                <a:solidFill>
                  <a:srgbClr val="1D1D1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 </a:t>
            </a: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是一个功能强大的</a:t>
            </a:r>
            <a:r>
              <a:rPr lang="en-US" altLang="zh-CN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库，主要用于对多维数组执行计算。</a:t>
            </a:r>
          </a:p>
          <a:p>
            <a:pPr marL="285750" indent="-285750" algn="l" defTabSz="914400">
              <a:buFont typeface="Arial" panose="020B0604020202020204" pitchFamily="34" charset="0"/>
              <a:buChar char="•"/>
              <a:defRPr/>
            </a:pPr>
            <a:r>
              <a:rPr lang="en-US" altLang="zh-CN" sz="1200" kern="0" dirty="0">
                <a:solidFill>
                  <a:srgbClr val="1D1D1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Simulator </a:t>
            </a: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是模拟器，可以模拟量子计算机的计算过程。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3BC17E6-2E8E-491F-845F-A6636F8301F5}"/>
                  </a:ext>
                </a:extLst>
              </p:cNvPr>
              <p:cNvSpPr txBox="1"/>
              <p:nvPr/>
            </p:nvSpPr>
            <p:spPr>
              <a:xfrm>
                <a:off x="3081434" y="2361092"/>
                <a:ext cx="8300127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2000"/>
                </a:lvl1pPr>
              </a:lstStyle>
              <a:p>
                <a:pPr marL="285750" indent="-285750" algn="l" defTabSz="914400">
                  <a:buFont typeface="Arial" panose="020B0604020202020204" pitchFamily="34" charset="0"/>
                  <a:buChar char="•"/>
                  <a:defRPr/>
                </a:pPr>
                <a:r>
                  <a:rPr lang="en-US" altLang="zh-CN" sz="1200" kern="0" dirty="0">
                    <a:solidFill>
                      <a:srgbClr val="1D1D1A"/>
                    </a:solidFill>
                    <a:latin typeface="Consolas" panose="020B0609020204030204" pitchFamily="49" charset="0"/>
                    <a:ea typeface="微软雅黑" panose="020B0503020204020204" pitchFamily="34" charset="-122"/>
                  </a:rPr>
                  <a:t>Simulator </a:t>
                </a:r>
                <a:r>
                  <a:rPr lang="zh-CN" altLang="en-US" sz="1200" kern="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中维护着一个量子态，初始为</a:t>
                </a:r>
                <a14:m>
                  <m:oMath xmlns:m="http://schemas.openxmlformats.org/officeDocument/2006/math">
                    <m:r>
                      <a:rPr lang="en-US" altLang="zh-CN" sz="1200" i="1" kern="0" dirty="0">
                        <a:solidFill>
                          <a:srgbClr val="1D1D1A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|0⟩</m:t>
                    </m:r>
                  </m:oMath>
                </a14:m>
                <a:r>
                  <a:rPr lang="zh-CN" altLang="en-US" sz="1200" kern="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态。</a:t>
                </a: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3BC17E6-2E8E-491F-845F-A6636F830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434" y="2361092"/>
                <a:ext cx="8300127" cy="276999"/>
              </a:xfrm>
              <a:prstGeom prst="rect">
                <a:avLst/>
              </a:prstGeom>
              <a:blipFill>
                <a:blip r:embed="rId3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8B2B3FEF-8A5F-4294-BC35-C0EF7E3E6089}"/>
              </a:ext>
            </a:extLst>
          </p:cNvPr>
          <p:cNvSpPr txBox="1"/>
          <p:nvPr/>
        </p:nvSpPr>
        <p:spPr>
          <a:xfrm>
            <a:off x="3081433" y="3338359"/>
            <a:ext cx="8300127" cy="276999"/>
          </a:xfrm>
          <a:prstGeom prst="rect">
            <a:avLst/>
          </a:prstGeom>
          <a:solidFill>
            <a:srgbClr val="30B5C5">
              <a:lumMod val="20000"/>
              <a:lumOff val="80000"/>
            </a:srgb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/>
            </a:lvl1pPr>
          </a:lstStyle>
          <a:p>
            <a:pPr marL="285750" indent="-285750" algn="l" defTabSz="914400">
              <a:buFont typeface="Arial" panose="020B0604020202020204" pitchFamily="34" charset="0"/>
              <a:buChar char="•"/>
              <a:defRPr/>
            </a:pP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 </a:t>
            </a:r>
            <a:r>
              <a:rPr lang="en-US" altLang="zh-CN" sz="1200" kern="0" dirty="0" err="1">
                <a:solidFill>
                  <a:srgbClr val="1D1D1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set_qs</a:t>
            </a:r>
            <a:r>
              <a:rPr lang="en-US" altLang="zh-CN" sz="1200" kern="0" dirty="0">
                <a:solidFill>
                  <a:srgbClr val="1D1D1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() </a:t>
            </a: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可以将量子态设置为任意的非零列向量，接口会自动进行归一化。</a:t>
            </a:r>
          </a:p>
        </p:txBody>
      </p:sp>
    </p:spTree>
    <p:extLst>
      <p:ext uri="{BB962C8B-B14F-4D97-AF65-F5344CB8AC3E}">
        <p14:creationId xmlns:p14="http://schemas.microsoft.com/office/powerpoint/2010/main" val="2734705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325F0F8E-245D-4B68-A0F7-A85F267945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MindQuantum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模块介绍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 core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D85296-249E-4977-A84A-65E8C93B4B65}"/>
              </a:ext>
            </a:extLst>
          </p:cNvPr>
          <p:cNvSpPr txBox="1">
            <a:spLocks/>
          </p:cNvSpPr>
          <p:nvPr/>
        </p:nvSpPr>
        <p:spPr>
          <a:xfrm>
            <a:off x="540000" y="1208269"/>
            <a:ext cx="10947378" cy="175701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179316" lvl="0" indent="-168208" defTabSz="1187323">
              <a:lnSpc>
                <a:spcPct val="150000"/>
              </a:lnSpc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1207605" algn="ctr"/>
              </a:tabLst>
              <a:defRPr sz="200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890493" indent="-296831" defTabSz="1187323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7"/>
            </a:lvl2pPr>
            <a:lvl3pPr marL="1484154" indent="-296831" defTabSz="1187323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7"/>
            </a:lvl3pPr>
            <a:lvl4pPr marL="2077817" indent="-296831" defTabSz="1187323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7"/>
            </a:lvl4pPr>
            <a:lvl5pPr marL="2671478" indent="-296831" defTabSz="1187323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7"/>
            </a:lvl5pPr>
            <a:lvl6pPr marL="3265140" indent="-296831" defTabSz="1187323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7"/>
            </a:lvl6pPr>
            <a:lvl7pPr marL="3858802" indent="-296831" defTabSz="1187323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7"/>
            </a:lvl7pPr>
            <a:lvl8pPr marL="4452463" indent="-296831" defTabSz="1187323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7"/>
            </a:lvl8pPr>
            <a:lvl9pPr marL="5046125" indent="-296831" defTabSz="1187323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7"/>
            </a:lvl9pPr>
          </a:lstStyle>
          <a:p>
            <a:r>
              <a:rPr lang="en-US" altLang="zh-CN" sz="1600" dirty="0" err="1"/>
              <a:t>Mindquantum</a:t>
            </a:r>
            <a:r>
              <a:rPr lang="zh-CN" altLang="en-US" sz="1600" dirty="0"/>
              <a:t>的核心模块包含</a:t>
            </a:r>
            <a:r>
              <a:rPr lang="en-US" altLang="zh-CN" sz="1600" dirty="0"/>
              <a:t>4</a:t>
            </a:r>
            <a:r>
              <a:rPr lang="zh-CN" altLang="en-US" sz="1600" dirty="0"/>
              <a:t>个子模块，涵盖了量子计算所必须的组件。</a:t>
            </a:r>
            <a:endParaRPr lang="en-US" altLang="zh-CN" sz="1600" dirty="0"/>
          </a:p>
          <a:p>
            <a:r>
              <a:rPr lang="zh-CN" altLang="en-US" sz="1600" dirty="0"/>
              <a:t>量子门和量子线路是计算的基本组件。</a:t>
            </a:r>
            <a:endParaRPr lang="en-US" altLang="zh-CN" sz="1600" dirty="0"/>
          </a:p>
          <a:p>
            <a:r>
              <a:rPr lang="zh-CN" altLang="en-US" sz="1600" dirty="0"/>
              <a:t>算子的用途则较为广泛，可以用来构造线路，也可以在变分算法中作为哈密顿量，测量对应的期望值作为输出结果等。</a:t>
            </a:r>
            <a:endParaRPr lang="en-US" altLang="zh-CN" sz="1600" dirty="0"/>
          </a:p>
          <a:p>
            <a:r>
              <a:rPr lang="zh-CN" altLang="en-US" sz="1600" dirty="0"/>
              <a:t>参数解析器在变分算法中较为常用，可以方便的管理和操作含参量子线路的参数。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0007F94-804B-484E-9262-40BE1BDC9A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476163"/>
              </p:ext>
            </p:extLst>
          </p:nvPr>
        </p:nvGraphicFramePr>
        <p:xfrm>
          <a:off x="649007" y="3272691"/>
          <a:ext cx="10947378" cy="2289327"/>
        </p:xfrm>
        <a:graphic>
          <a:graphicData uri="http://schemas.openxmlformats.org/drawingml/2006/table">
            <a:tbl>
              <a:tblPr/>
              <a:tblGrid>
                <a:gridCol w="4577572">
                  <a:extLst>
                    <a:ext uri="{9D8B030D-6E8A-4147-A177-3AD203B41FA5}">
                      <a16:colId xmlns:a16="http://schemas.microsoft.com/office/drawing/2014/main" val="3458647644"/>
                    </a:ext>
                  </a:extLst>
                </a:gridCol>
                <a:gridCol w="6369806">
                  <a:extLst>
                    <a:ext uri="{9D8B030D-6E8A-4147-A177-3AD203B41FA5}">
                      <a16:colId xmlns:a16="http://schemas.microsoft.com/office/drawing/2014/main" val="3328862077"/>
                    </a:ext>
                  </a:extLst>
                </a:gridCol>
              </a:tblGrid>
              <a:tr h="4693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baseline="0" dirty="0">
                          <a:solidFill>
                            <a:srgbClr val="379B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2" tooltip="mindquantum.core.gates"/>
                        </a:rPr>
                        <a:t>mindquantum.core.gates</a:t>
                      </a:r>
                      <a:endParaRPr lang="en-US" sz="1600" baseline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340" marR="152340" marT="76170" marB="76170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aseline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量子门模块，提供不同的量子门。</a:t>
                      </a:r>
                    </a:p>
                  </a:txBody>
                  <a:tcPr marL="152340" marR="152340" marT="76170" marB="76170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356031"/>
                  </a:ext>
                </a:extLst>
              </a:tr>
              <a:tr h="7837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baseline="0" dirty="0">
                          <a:solidFill>
                            <a:srgbClr val="379B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3" tooltip="mindquantum.core.circuit"/>
                        </a:rPr>
                        <a:t>mindquantum.core.circuit</a:t>
                      </a:r>
                      <a:endParaRPr lang="en-US" sz="1600" baseline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340" marR="152340" marT="76170" marB="76170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aseline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量子线路模块，通过有序地组织各种量子门，我们可以轻松地搭建出符合要求的量子线路，包括参数化量子线路。</a:t>
                      </a:r>
                    </a:p>
                  </a:txBody>
                  <a:tcPr marL="152340" marR="152340" marT="76170" marB="76170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504346"/>
                  </a:ext>
                </a:extLst>
              </a:tr>
              <a:tr h="39608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baseline="0" dirty="0">
                          <a:solidFill>
                            <a:srgbClr val="379B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4" tooltip="mindquantum.core.operators"/>
                        </a:rPr>
                        <a:t>mindquantum.core.operators</a:t>
                      </a:r>
                      <a:endParaRPr lang="en-US" sz="1600" baseline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340" marR="152340" marT="76170" marB="76170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aseline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MindQuantum</a:t>
                      </a:r>
                      <a:r>
                        <a:rPr lang="zh-CN" altLang="en-US" sz="1600" baseline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算子库。</a:t>
                      </a:r>
                    </a:p>
                  </a:txBody>
                  <a:tcPr marL="152340" marR="152340" marT="76170" marB="76170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70878"/>
                  </a:ext>
                </a:extLst>
              </a:tr>
              <a:tr h="6398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baseline="0" dirty="0">
                          <a:solidFill>
                            <a:srgbClr val="379BE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5" tooltip="mindquantum.core.parameterresolver"/>
                        </a:rPr>
                        <a:t>mindquantum.core.parameterresolver</a:t>
                      </a:r>
                      <a:endParaRPr lang="en-US" sz="1600" baseline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340" marR="152340" marT="76170" marB="76170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aseline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参数解析器模块，用于声明</a:t>
                      </a:r>
                      <a:r>
                        <a:rPr lang="en-US" sz="1600" baseline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MindSpore Quantum</a:t>
                      </a:r>
                      <a:r>
                        <a:rPr lang="zh-CN" altLang="en-US" sz="1600" baseline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中所使用到的参数。</a:t>
                      </a:r>
                    </a:p>
                  </a:txBody>
                  <a:tcPr marL="152340" marR="152340" marT="76170" marB="76170" anchor="ctr">
                    <a:lnL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639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8172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0BCBE89D-7DB7-4F34-8A5F-0F01A29B65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编程实践：量子门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826E7C-498B-462B-8560-6C7F12A289B0}"/>
              </a:ext>
            </a:extLst>
          </p:cNvPr>
          <p:cNvSpPr/>
          <p:nvPr/>
        </p:nvSpPr>
        <p:spPr>
          <a:xfrm>
            <a:off x="3095652" y="2287230"/>
            <a:ext cx="8521985" cy="523220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from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mindquantum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core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gates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X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Y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H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     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导入量子门</a:t>
            </a:r>
            <a:endParaRPr lang="zh-CN" altLang="en-US" sz="1400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from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mindquantum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simulator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6F42C1"/>
                </a:solidFill>
                <a:latin typeface="Consolas" panose="020B0609020204030204" pitchFamily="49" charset="0"/>
              </a:rPr>
              <a:t>Simulator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    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导入模拟器</a:t>
            </a:r>
            <a:endParaRPr lang="zh-CN" altLang="en-US" sz="1400" dirty="0">
              <a:solidFill>
                <a:srgbClr val="24292E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9A628B9-3C73-45E1-97CB-209143410C97}"/>
              </a:ext>
            </a:extLst>
          </p:cNvPr>
          <p:cNvSpPr txBox="1"/>
          <p:nvPr/>
        </p:nvSpPr>
        <p:spPr>
          <a:xfrm>
            <a:off x="530072" y="2279447"/>
            <a:ext cx="2441728" cy="584775"/>
          </a:xfrm>
          <a:prstGeom prst="rect">
            <a:avLst/>
          </a:prstGeom>
          <a:solidFill>
            <a:srgbClr val="30B5C5">
              <a:lumMod val="20000"/>
              <a:lumOff val="80000"/>
            </a:srgbClr>
          </a:solidFill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 sz="20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导入依赖包</a:t>
            </a:r>
          </a:p>
        </p:txBody>
      </p:sp>
      <p:sp>
        <p:nvSpPr>
          <p:cNvPr id="10" name="文本框 31">
            <a:extLst>
              <a:ext uri="{FF2B5EF4-FFF2-40B4-BE49-F238E27FC236}">
                <a16:creationId xmlns:a16="http://schemas.microsoft.com/office/drawing/2014/main" id="{BBB6BF08-F248-4C04-AB91-87B2DE9332D5}"/>
              </a:ext>
            </a:extLst>
          </p:cNvPr>
          <p:cNvSpPr txBox="1"/>
          <p:nvPr/>
        </p:nvSpPr>
        <p:spPr>
          <a:xfrm>
            <a:off x="530072" y="3013527"/>
            <a:ext cx="2441728" cy="1098677"/>
          </a:xfrm>
          <a:prstGeom prst="rect">
            <a:avLst/>
          </a:prstGeom>
          <a:solidFill>
            <a:srgbClr val="30B5C5">
              <a:lumMod val="20000"/>
              <a:lumOff val="80000"/>
            </a:srgbClr>
          </a:solidFill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打印量子矩阵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36E0A7-1A98-4816-99BF-35AA875C5DED}"/>
              </a:ext>
            </a:extLst>
          </p:cNvPr>
          <p:cNvSpPr/>
          <p:nvPr/>
        </p:nvSpPr>
        <p:spPr>
          <a:xfrm>
            <a:off x="3095653" y="3373540"/>
            <a:ext cx="2552443" cy="738664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print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'Gate name:'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, X)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gateX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=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X.matrix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print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gateX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)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249CFE2-27F0-434A-9341-C4371BEDA1EC}"/>
              </a:ext>
            </a:extLst>
          </p:cNvPr>
          <p:cNvSpPr/>
          <p:nvPr/>
        </p:nvSpPr>
        <p:spPr>
          <a:xfrm>
            <a:off x="542862" y="5648857"/>
            <a:ext cx="1349438" cy="646331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Gate name: X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[[0 1]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[1 0]]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12A8E8D-DCAF-42AD-B982-CBBA3DCA7388}"/>
                  </a:ext>
                </a:extLst>
              </p:cNvPr>
              <p:cNvSpPr txBox="1"/>
              <p:nvPr/>
            </p:nvSpPr>
            <p:spPr>
              <a:xfrm>
                <a:off x="3990750" y="1665087"/>
                <a:ext cx="1150655" cy="4106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16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𝑋</m:t>
                      </m:r>
                      <m:r>
                        <a:rPr kumimoji="1" lang="zh-CN" alt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16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1600" b="0" i="1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CN" sz="1600" b="0" i="1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1600" b="0" i="1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1600" b="0" i="1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CN" sz="1600" b="0" i="1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12A8E8D-DCAF-42AD-B982-CBBA3DCA7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0750" y="1665087"/>
                <a:ext cx="1150655" cy="410625"/>
              </a:xfrm>
              <a:prstGeom prst="rect">
                <a:avLst/>
              </a:prstGeom>
              <a:blipFill>
                <a:blip r:embed="rId3"/>
                <a:stretch>
                  <a:fillRect l="-6383" t="-1471" b="-147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C49AE7D3-FFBB-4466-BD1C-B954B25B4DC7}"/>
                  </a:ext>
                </a:extLst>
              </p:cNvPr>
              <p:cNvSpPr txBox="1"/>
              <p:nvPr/>
            </p:nvSpPr>
            <p:spPr>
              <a:xfrm>
                <a:off x="6483121" y="1665087"/>
                <a:ext cx="1340822" cy="4106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16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𝑌</m:t>
                      </m:r>
                      <m:r>
                        <a:rPr kumimoji="1" lang="zh-CN" alt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16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1600" b="0" i="1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CN" sz="1600" b="0" i="1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zh-CN" sz="1600" b="0" i="1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1" lang="en-US" altLang="zh-CN" sz="1600" b="0" i="1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𝑖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1600" b="0" i="1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kumimoji="1" lang="en-US" altLang="zh-CN" sz="1600" b="0" i="1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C49AE7D3-FFBB-4466-BD1C-B954B25B4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3121" y="1665087"/>
                <a:ext cx="1340822" cy="410625"/>
              </a:xfrm>
              <a:prstGeom prst="rect">
                <a:avLst/>
              </a:prstGeom>
              <a:blipFill>
                <a:blip r:embed="rId4"/>
                <a:stretch>
                  <a:fillRect l="-5479" t="-1471" b="-147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4E3521B-7E77-4FCA-8936-3870EE106D3F}"/>
                  </a:ext>
                </a:extLst>
              </p:cNvPr>
              <p:cNvSpPr txBox="1"/>
              <p:nvPr/>
            </p:nvSpPr>
            <p:spPr>
              <a:xfrm>
                <a:off x="8976574" y="1616067"/>
                <a:ext cx="1503297" cy="508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6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𝐻</m:t>
                      </m:r>
                      <m:r>
                        <a:rPr kumimoji="1" lang="zh-CN" alt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16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16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zh-CN" sz="1600" b="0" i="1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zh-CN" sz="1600" b="0" i="1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kumimoji="1" lang="en-US" altLang="zh-CN" sz="16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zh-CN" sz="1600" b="0" i="1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zh-CN" sz="1600" b="0" i="1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CN" sz="1600" b="0" i="1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zh-CN" sz="1600" b="0" i="1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zh-CN" sz="1600" b="0" i="1" u="none" strike="noStrike" kern="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icrosoft YaHei" panose="020B0503020204020204" pitchFamily="34" charset="-122"/>
                  <a:ea typeface="Microsoft YaHei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4E3521B-7E77-4FCA-8936-3870EE106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6574" y="1616067"/>
                <a:ext cx="1503297" cy="508665"/>
              </a:xfrm>
              <a:prstGeom prst="rect">
                <a:avLst/>
              </a:prstGeom>
              <a:blipFill>
                <a:blip r:embed="rId5"/>
                <a:stretch>
                  <a:fillRect b="-11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8" descr="https://hiq.huaweicloud.com/document/media/composer/Y.png">
            <a:extLst>
              <a:ext uri="{FF2B5EF4-FFF2-40B4-BE49-F238E27FC236}">
                <a16:creationId xmlns:a16="http://schemas.microsoft.com/office/drawing/2014/main" id="{89CEF56D-F5C2-4B54-8DDA-750B59B34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3371" y="1066153"/>
            <a:ext cx="430754" cy="430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 descr="https://hiq.huaweicloud.com/document/media/composer/X.png">
            <a:extLst>
              <a:ext uri="{FF2B5EF4-FFF2-40B4-BE49-F238E27FC236}">
                <a16:creationId xmlns:a16="http://schemas.microsoft.com/office/drawing/2014/main" id="{2DF9EC5E-E0B0-413F-97AB-4711FD869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3897" y="1066153"/>
            <a:ext cx="430754" cy="430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https://hiq.huaweicloud.com/document/media/composer/H.png">
            <a:extLst>
              <a:ext uri="{FF2B5EF4-FFF2-40B4-BE49-F238E27FC236}">
                <a16:creationId xmlns:a16="http://schemas.microsoft.com/office/drawing/2014/main" id="{FC623444-B282-4CA6-8747-7FDE30BC6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2845" y="1066153"/>
            <a:ext cx="430754" cy="430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文本框 21">
            <a:extLst>
              <a:ext uri="{FF2B5EF4-FFF2-40B4-BE49-F238E27FC236}">
                <a16:creationId xmlns:a16="http://schemas.microsoft.com/office/drawing/2014/main" id="{E4AD699A-CA19-4297-94CB-A1E7429CC97C}"/>
              </a:ext>
            </a:extLst>
          </p:cNvPr>
          <p:cNvSpPr txBox="1"/>
          <p:nvPr/>
        </p:nvSpPr>
        <p:spPr>
          <a:xfrm>
            <a:off x="530072" y="4258967"/>
            <a:ext cx="2441728" cy="1220076"/>
          </a:xfrm>
          <a:prstGeom prst="rect">
            <a:avLst/>
          </a:prstGeom>
          <a:solidFill>
            <a:srgbClr val="30B5C5">
              <a:lumMod val="20000"/>
              <a:lumOff val="80000"/>
            </a:srgbClr>
          </a:solidFill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 sz="2000"/>
            </a:lvl1pPr>
          </a:lstStyle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在模拟器中演化量子门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CC7C606-A2B4-4F58-BC48-F07054F19C4B}"/>
              </a:ext>
            </a:extLst>
          </p:cNvPr>
          <p:cNvSpPr/>
          <p:nvPr/>
        </p:nvSpPr>
        <p:spPr>
          <a:xfrm>
            <a:off x="5832516" y="3373540"/>
            <a:ext cx="2800350" cy="738664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print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'Gate name:'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, Y)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gateY = Y.matrix()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print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(gateY)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FEF8A8A-13EA-477B-9540-3585F15218C7}"/>
              </a:ext>
            </a:extLst>
          </p:cNvPr>
          <p:cNvSpPr/>
          <p:nvPr/>
        </p:nvSpPr>
        <p:spPr>
          <a:xfrm>
            <a:off x="8817287" y="3373540"/>
            <a:ext cx="2800350" cy="738664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print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'Gate name:'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, H)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gateH =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H.matrix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print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(gateH)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4613841-8A94-4EA3-AD2C-0C0239665059}"/>
              </a:ext>
            </a:extLst>
          </p:cNvPr>
          <p:cNvSpPr/>
          <p:nvPr/>
        </p:nvSpPr>
        <p:spPr>
          <a:xfrm>
            <a:off x="2292409" y="5648857"/>
            <a:ext cx="1822288" cy="646331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Gate name: 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[[ 0.+0.j -0.-1.j]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[ 0.+1.j  0.+0.j]] 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BEC7995-F2B2-4237-AB88-DE2F4178CA2F}"/>
              </a:ext>
            </a:extLst>
          </p:cNvPr>
          <p:cNvSpPr/>
          <p:nvPr/>
        </p:nvSpPr>
        <p:spPr>
          <a:xfrm>
            <a:off x="4514806" y="5648857"/>
            <a:ext cx="2441729" cy="646331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Gate name: H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[[ 0.70710678  0.70710678]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[ 0.70710678 -0.70710678]]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0924529-F334-4BEC-9F88-16D7A1E2407F}"/>
              </a:ext>
            </a:extLst>
          </p:cNvPr>
          <p:cNvSpPr/>
          <p:nvPr/>
        </p:nvSpPr>
        <p:spPr>
          <a:xfrm>
            <a:off x="8077754" y="14838"/>
            <a:ext cx="936000" cy="288000"/>
          </a:xfrm>
          <a:prstGeom prst="rect">
            <a:avLst/>
          </a:prstGeom>
          <a:solidFill>
            <a:schemeClr val="tx2">
              <a:lumMod val="85000"/>
            </a:schemeClr>
          </a:solidFill>
        </p:spPr>
        <p:txBody>
          <a:bodyPr lIns="0" tIns="0" rIns="0" bIns="0" anchor="ctr">
            <a:noAutofit/>
          </a:bodyPr>
          <a:lstStyle/>
          <a:p>
            <a:pPr marL="0" marR="0" lvl="0" indent="0" algn="ctr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编程准备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B825C73-1CB7-41AD-9004-A067D1967EFD}"/>
              </a:ext>
            </a:extLst>
          </p:cNvPr>
          <p:cNvSpPr/>
          <p:nvPr/>
        </p:nvSpPr>
        <p:spPr>
          <a:xfrm>
            <a:off x="9013754" y="14838"/>
            <a:ext cx="1296000" cy="288000"/>
          </a:xfrm>
          <a:prstGeom prst="rect">
            <a:avLst/>
          </a:prstGeom>
          <a:solidFill>
            <a:schemeClr val="accent6"/>
          </a:solidFill>
        </p:spPr>
        <p:txBody>
          <a:bodyPr lIns="0" tIns="0" rIns="0" bIns="0" anchor="ctr">
            <a:noAutofit/>
          </a:bodyPr>
          <a:lstStyle/>
          <a:p>
            <a:pPr marL="0" marR="0" lvl="0" indent="0" algn="ctr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量子线路编程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72ACB62-FD8A-41E4-8DA9-C4B9463BC36C}"/>
              </a:ext>
            </a:extLst>
          </p:cNvPr>
          <p:cNvSpPr/>
          <p:nvPr/>
        </p:nvSpPr>
        <p:spPr>
          <a:xfrm>
            <a:off x="10321637" y="14838"/>
            <a:ext cx="1296000" cy="288000"/>
          </a:xfrm>
          <a:prstGeom prst="rect">
            <a:avLst/>
          </a:prstGeom>
          <a:solidFill>
            <a:schemeClr val="tx2">
              <a:lumMod val="85000"/>
            </a:schemeClr>
          </a:solidFill>
        </p:spPr>
        <p:txBody>
          <a:bodyPr lIns="0" tIns="0" rIns="0" bIns="0" anchor="ctr">
            <a:noAutofit/>
          </a:bodyPr>
          <a:lstStyle/>
          <a:p>
            <a:pPr marL="0" marR="0" lvl="0" indent="0" algn="ctr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变分算法编程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E23DB8E-3607-4E02-8539-C44D77E43746}"/>
              </a:ext>
            </a:extLst>
          </p:cNvPr>
          <p:cNvCxnSpPr/>
          <p:nvPr/>
        </p:nvCxnSpPr>
        <p:spPr>
          <a:xfrm>
            <a:off x="9013754" y="14838"/>
            <a:ext cx="0" cy="28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00E389AB-BCAD-4367-B132-C298F51BDF9F}"/>
              </a:ext>
            </a:extLst>
          </p:cNvPr>
          <p:cNvCxnSpPr/>
          <p:nvPr/>
        </p:nvCxnSpPr>
        <p:spPr>
          <a:xfrm>
            <a:off x="10315695" y="14838"/>
            <a:ext cx="0" cy="28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9E22E60-ED57-486C-B18F-27F58584D96F}"/>
              </a:ext>
            </a:extLst>
          </p:cNvPr>
          <p:cNvSpPr/>
          <p:nvPr/>
        </p:nvSpPr>
        <p:spPr>
          <a:xfrm>
            <a:off x="3095651" y="4740379"/>
            <a:ext cx="8521985" cy="738664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sim </a:t>
            </a:r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6F42C1"/>
                </a:solidFill>
                <a:latin typeface="Consolas" panose="020B0609020204030204" pitchFamily="49" charset="0"/>
              </a:rPr>
              <a:t>Simulator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32F62"/>
                </a:solidFill>
                <a:latin typeface="Consolas" panose="020B0609020204030204" pitchFamily="49" charset="0"/>
              </a:rPr>
              <a:t>'</a:t>
            </a:r>
            <a:r>
              <a:rPr lang="en-US" altLang="zh-CN" sz="1400" dirty="0" err="1">
                <a:solidFill>
                  <a:srgbClr val="032F62"/>
                </a:solidFill>
                <a:latin typeface="Consolas" panose="020B0609020204030204" pitchFamily="49" charset="0"/>
              </a:rPr>
              <a:t>mqvector</a:t>
            </a:r>
            <a:r>
              <a:rPr lang="en-US" altLang="zh-CN" sz="1400" dirty="0">
                <a:solidFill>
                  <a:srgbClr val="032F62"/>
                </a:solidFill>
                <a:latin typeface="Consolas" panose="020B0609020204030204" pitchFamily="49" charset="0"/>
              </a:rPr>
              <a:t>'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)  		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实例化一个模拟器</a:t>
            </a:r>
            <a:endParaRPr lang="zh-CN" altLang="en-US" sz="1400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sim.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apply_gate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005CC5"/>
                </a:solidFill>
                <a:latin typeface="Consolas" panose="020B0609020204030204" pitchFamily="49" charset="0"/>
              </a:rPr>
              <a:t>H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on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))         		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将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H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门作用于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q0</a:t>
            </a:r>
            <a:endParaRPr lang="en-US" altLang="zh-CN" sz="1400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(sim)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455AF25-488E-4F4A-A35E-3072AAD48BC8}"/>
              </a:ext>
            </a:extLst>
          </p:cNvPr>
          <p:cNvSpPr/>
          <p:nvPr/>
        </p:nvSpPr>
        <p:spPr>
          <a:xfrm>
            <a:off x="7356644" y="5648857"/>
            <a:ext cx="4260993" cy="646331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mqvector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simulator with 1 qubit (little endian).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Current quantum state: √2/2¦0⟩ √2/2¦1⟩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706E9DB-EAC2-4476-9ECD-31BF273E083F}"/>
              </a:ext>
            </a:extLst>
          </p:cNvPr>
          <p:cNvSpPr/>
          <p:nvPr/>
        </p:nvSpPr>
        <p:spPr>
          <a:xfrm>
            <a:off x="540002" y="6583773"/>
            <a:ext cx="1668331" cy="30765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方正兰亭黑简体" panose="02000000000000000000" pitchFamily="2" charset="-122"/>
                <a:cs typeface="+mn-cs"/>
              </a:rPr>
              <a:t>mindquantum</a:t>
            </a:r>
            <a:r>
              <a:rPr kumimoji="0" lang="en-US" altLang="zh-CN" sz="1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方正兰亭黑简体" panose="02000000000000000000" pitchFamily="2" charset="-122"/>
                <a:cs typeface="+mn-cs"/>
              </a:rPr>
              <a:t> 0.8.0 </a:t>
            </a:r>
            <a:endParaRPr kumimoji="0" lang="zh-CN" altLang="en-US" sz="1399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4131F25-B066-4E74-903B-3FCC8B6ABB50}"/>
              </a:ext>
            </a:extLst>
          </p:cNvPr>
          <p:cNvSpPr txBox="1"/>
          <p:nvPr/>
        </p:nvSpPr>
        <p:spPr>
          <a:xfrm>
            <a:off x="3095652" y="3033250"/>
            <a:ext cx="8521985" cy="307777"/>
          </a:xfrm>
          <a:prstGeom prst="rect">
            <a:avLst/>
          </a:prstGeom>
          <a:solidFill>
            <a:srgbClr val="30B5C5">
              <a:lumMod val="20000"/>
              <a:lumOff val="80000"/>
            </a:srgb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/>
            </a:lvl1pPr>
          </a:lstStyle>
          <a:p>
            <a:pPr marL="285750" indent="-285750" algn="l" defTabSz="914400">
              <a:buFont typeface="Arial" panose="020B0604020202020204" pitchFamily="34" charset="0"/>
              <a:buChar char="•"/>
              <a:defRPr/>
            </a:pP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每个量子门都有 </a:t>
            </a:r>
            <a:r>
              <a:rPr lang="en-US" altLang="zh-CN" sz="1400" kern="0" dirty="0">
                <a:solidFill>
                  <a:srgbClr val="1D1D1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matrix() </a:t>
            </a: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方法，可以获取该量子门的矩阵形式。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38439C9-C3F8-4CEA-B201-3A09B14E758E}"/>
              </a:ext>
            </a:extLst>
          </p:cNvPr>
          <p:cNvSpPr txBox="1"/>
          <p:nvPr/>
        </p:nvSpPr>
        <p:spPr>
          <a:xfrm>
            <a:off x="3095651" y="4258967"/>
            <a:ext cx="8521985" cy="461665"/>
          </a:xfrm>
          <a:prstGeom prst="rect">
            <a:avLst/>
          </a:prstGeom>
          <a:solidFill>
            <a:srgbClr val="30B5C5">
              <a:lumMod val="20000"/>
              <a:lumOff val="80000"/>
            </a:srgb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/>
            </a:lvl1pPr>
          </a:lstStyle>
          <a:p>
            <a:pPr marL="285750" indent="-285750" algn="l" defTabSz="914400">
              <a:buFont typeface="Arial" panose="020B0604020202020204" pitchFamily="34" charset="0"/>
              <a:buChar char="•"/>
              <a:defRPr/>
            </a:pP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 </a:t>
            </a:r>
            <a:r>
              <a:rPr lang="en-US" altLang="zh-CN" sz="1200" kern="0" dirty="0">
                <a:solidFill>
                  <a:srgbClr val="1D1D1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Simulator </a:t>
            </a: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1200" kern="0" dirty="0" err="1">
                <a:solidFill>
                  <a:srgbClr val="1D1D1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apply_gate</a:t>
            </a:r>
            <a:r>
              <a:rPr lang="en-US" altLang="zh-CN" sz="1200" kern="0" dirty="0">
                <a:solidFill>
                  <a:srgbClr val="1D1D1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() </a:t>
            </a: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接口可以将量子门作用在量子比特上，使量子态发生演化。</a:t>
            </a:r>
            <a:endParaRPr lang="en-US" altLang="zh-CN" sz="120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 defTabSz="914400">
              <a:buFont typeface="Arial" panose="020B0604020202020204" pitchFamily="34" charset="0"/>
              <a:buChar char="•"/>
              <a:defRPr/>
            </a:pPr>
            <a:r>
              <a:rPr lang="en-US" altLang="zh-CN" sz="1200" kern="0" dirty="0">
                <a:solidFill>
                  <a:srgbClr val="1D1D1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on() </a:t>
            </a: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方法可以指定量子门作用在哪个量子比特上（目标比特），受哪些比特控制（控制比特）。</a:t>
            </a:r>
          </a:p>
        </p:txBody>
      </p:sp>
    </p:spTree>
    <p:extLst>
      <p:ext uri="{BB962C8B-B14F-4D97-AF65-F5344CB8AC3E}">
        <p14:creationId xmlns:p14="http://schemas.microsoft.com/office/powerpoint/2010/main" val="2549281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A9D4C0F2-D72D-4065-B9D6-DB1C19B2A4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编程实践：量子线路</a:t>
            </a:r>
            <a:endParaRPr lang="zh-CN" altLang="en-US" dirty="0">
              <a:solidFill>
                <a:srgbClr val="1D1D1A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F3613F-9C9A-4714-8BE1-B8EC97D96EA4}"/>
              </a:ext>
            </a:extLst>
          </p:cNvPr>
          <p:cNvSpPr/>
          <p:nvPr/>
        </p:nvSpPr>
        <p:spPr>
          <a:xfrm>
            <a:off x="3716556" y="1119496"/>
            <a:ext cx="7900555" cy="738664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from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mindquantum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core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gates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X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Y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H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  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导入量子门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X, Y, H</a:t>
            </a:r>
            <a:endParaRPr lang="en-US" altLang="zh-CN" sz="1400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from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mindquantum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core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circuit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6F42C1"/>
                </a:solidFill>
                <a:latin typeface="Consolas" panose="020B0609020204030204" pitchFamily="49" charset="0"/>
              </a:rPr>
              <a:t>Circuit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导入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Circuit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模块，用于搭建量子线路</a:t>
            </a:r>
            <a:endParaRPr lang="en-US" altLang="zh-CN" sz="1400" dirty="0">
              <a:solidFill>
                <a:srgbClr val="6A737D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from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mindquantum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simulator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6F42C1"/>
                </a:solidFill>
                <a:latin typeface="Consolas" panose="020B0609020204030204" pitchFamily="49" charset="0"/>
              </a:rPr>
              <a:t>Simulator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 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导入模拟器</a:t>
            </a:r>
            <a:endParaRPr lang="zh-CN" altLang="en-US" sz="1400" dirty="0">
              <a:solidFill>
                <a:srgbClr val="24292E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54399D7-4FFF-4FE5-9865-F4817F55F43E}"/>
              </a:ext>
            </a:extLst>
          </p:cNvPr>
          <p:cNvSpPr/>
          <p:nvPr/>
        </p:nvSpPr>
        <p:spPr>
          <a:xfrm>
            <a:off x="3716555" y="2204730"/>
            <a:ext cx="7898925" cy="954107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circ </a:t>
            </a:r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6F42C1"/>
                </a:solidFill>
                <a:latin typeface="Consolas" panose="020B0609020204030204" pitchFamily="49" charset="0"/>
              </a:rPr>
              <a:t>Circuit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() 			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实例化一个量子线路</a:t>
            </a:r>
            <a:endParaRPr lang="zh-CN" altLang="en-US" sz="1400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circ 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+=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5CC5"/>
                </a:solidFill>
                <a:latin typeface="Consolas" panose="020B0609020204030204" pitchFamily="49" charset="0"/>
              </a:rPr>
              <a:t>H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on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)  			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在线路上的第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0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个比特添加一个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H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门</a:t>
            </a:r>
            <a:endParaRPr lang="zh-CN" altLang="en-US" sz="1400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circ 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+=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5CC5"/>
                </a:solidFill>
                <a:latin typeface="Consolas" panose="020B0609020204030204" pitchFamily="49" charset="0"/>
              </a:rPr>
              <a:t>Y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on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)  			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在线路上的第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0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个比特添加一个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Y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门 </a:t>
            </a:r>
            <a:endParaRPr lang="zh-CN" altLang="en-US" sz="1400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circ 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+=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5CC5"/>
                </a:solidFill>
                <a:latin typeface="Consolas" panose="020B0609020204030204" pitchFamily="49" charset="0"/>
              </a:rPr>
              <a:t>X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on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)  			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在线路上的第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个比特添加一个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X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门</a:t>
            </a:r>
            <a:endParaRPr lang="en-US" altLang="zh-CN" sz="1400" dirty="0">
              <a:solidFill>
                <a:srgbClr val="6A737D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B4367C3-8BC5-4824-BF7E-B3AB797F325C}"/>
              </a:ext>
            </a:extLst>
          </p:cNvPr>
          <p:cNvSpPr/>
          <p:nvPr/>
        </p:nvSpPr>
        <p:spPr>
          <a:xfrm>
            <a:off x="3716556" y="3665488"/>
            <a:ext cx="7911242" cy="523220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mat </a:t>
            </a:r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circ.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matrix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() 		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获取线路对应的矩阵</a:t>
            </a:r>
            <a:endParaRPr lang="zh-CN" altLang="en-US" sz="1400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6F42C1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32F62"/>
                </a:solidFill>
                <a:latin typeface="Consolas" panose="020B0609020204030204" pitchFamily="49" charset="0"/>
              </a:rPr>
              <a:t>'circuit matrix:'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, mat)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69040D-71EB-4A2C-AE75-8F57EB9425E3}"/>
              </a:ext>
            </a:extLst>
          </p:cNvPr>
          <p:cNvSpPr/>
          <p:nvPr/>
        </p:nvSpPr>
        <p:spPr>
          <a:xfrm>
            <a:off x="3716556" y="4548311"/>
            <a:ext cx="7911242" cy="738664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sim </a:t>
            </a:r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6F42C1"/>
                </a:solidFill>
                <a:latin typeface="Consolas" panose="020B0609020204030204" pitchFamily="49" charset="0"/>
              </a:rPr>
              <a:t>Simulator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32F62"/>
                </a:solidFill>
                <a:latin typeface="Consolas" panose="020B0609020204030204" pitchFamily="49" charset="0"/>
              </a:rPr>
              <a:t>'</a:t>
            </a:r>
            <a:r>
              <a:rPr lang="en-US" altLang="zh-CN" sz="1400" dirty="0" err="1">
                <a:solidFill>
                  <a:srgbClr val="032F62"/>
                </a:solidFill>
                <a:latin typeface="Consolas" panose="020B0609020204030204" pitchFamily="49" charset="0"/>
              </a:rPr>
              <a:t>mqvector</a:t>
            </a:r>
            <a:r>
              <a:rPr lang="en-US" altLang="zh-CN" sz="1400" dirty="0">
                <a:solidFill>
                  <a:srgbClr val="032F62"/>
                </a:solidFill>
                <a:latin typeface="Consolas" panose="020B0609020204030204" pitchFamily="49" charset="0"/>
              </a:rPr>
              <a:t>'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)  	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实例化一个两比特的模拟器</a:t>
            </a:r>
            <a:endParaRPr lang="zh-CN" altLang="en-US" sz="1400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sim.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apply_circuit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(circ)         	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作用量子线路</a:t>
            </a:r>
            <a:endParaRPr lang="zh-CN" altLang="en-US" sz="1400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(sim)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71491B9-31E9-4788-BBDB-333DC49654E8}"/>
              </a:ext>
            </a:extLst>
          </p:cNvPr>
          <p:cNvSpPr txBox="1"/>
          <p:nvPr/>
        </p:nvSpPr>
        <p:spPr>
          <a:xfrm>
            <a:off x="540002" y="1119497"/>
            <a:ext cx="3042520" cy="738664"/>
          </a:xfrm>
          <a:prstGeom prst="rect">
            <a:avLst/>
          </a:prstGeom>
          <a:solidFill>
            <a:srgbClr val="30B5C5">
              <a:lumMod val="20000"/>
              <a:lumOff val="80000"/>
            </a:srgbClr>
          </a:solidFill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 sz="2000"/>
            </a:lvl1pPr>
          </a:lstStyle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导入依赖包</a:t>
            </a:r>
          </a:p>
        </p:txBody>
      </p:sp>
      <p:sp>
        <p:nvSpPr>
          <p:cNvPr id="17" name="文本框 31">
            <a:extLst>
              <a:ext uri="{FF2B5EF4-FFF2-40B4-BE49-F238E27FC236}">
                <a16:creationId xmlns:a16="http://schemas.microsoft.com/office/drawing/2014/main" id="{D8AAB978-61B2-4C8A-9003-36205EA872F9}"/>
              </a:ext>
            </a:extLst>
          </p:cNvPr>
          <p:cNvSpPr txBox="1"/>
          <p:nvPr/>
        </p:nvSpPr>
        <p:spPr>
          <a:xfrm>
            <a:off x="540002" y="1943579"/>
            <a:ext cx="3042520" cy="1175879"/>
          </a:xfrm>
          <a:prstGeom prst="rect">
            <a:avLst/>
          </a:prstGeom>
          <a:solidFill>
            <a:srgbClr val="30B5C5">
              <a:lumMod val="20000"/>
              <a:lumOff val="80000"/>
            </a:srgbClr>
          </a:solidFill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创建量子线路对象，添加量子门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41A4CA6-F6F5-499C-8575-47E44120EAD8}"/>
              </a:ext>
            </a:extLst>
          </p:cNvPr>
          <p:cNvSpPr txBox="1"/>
          <p:nvPr/>
        </p:nvSpPr>
        <p:spPr>
          <a:xfrm>
            <a:off x="540002" y="3220069"/>
            <a:ext cx="3042520" cy="360000"/>
          </a:xfrm>
          <a:prstGeom prst="rect">
            <a:avLst/>
          </a:prstGeom>
          <a:solidFill>
            <a:srgbClr val="30B5C5">
              <a:lumMod val="20000"/>
              <a:lumOff val="80000"/>
            </a:srgbClr>
          </a:solidFill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 sz="2000"/>
            </a:lvl1pPr>
          </a:lstStyle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打印量子线路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1ADFDEB-C37F-4011-A7E8-9F64D8B0A7FC}"/>
              </a:ext>
            </a:extLst>
          </p:cNvPr>
          <p:cNvSpPr txBox="1"/>
          <p:nvPr/>
        </p:nvSpPr>
        <p:spPr>
          <a:xfrm>
            <a:off x="540002" y="3665487"/>
            <a:ext cx="3042520" cy="523220"/>
          </a:xfrm>
          <a:prstGeom prst="rect">
            <a:avLst/>
          </a:prstGeom>
          <a:solidFill>
            <a:srgbClr val="30B5C5">
              <a:lumMod val="20000"/>
              <a:lumOff val="80000"/>
            </a:srgbClr>
          </a:solidFill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 sz="2000"/>
            </a:lvl1pPr>
          </a:lstStyle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获取量子线路对应矩阵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663AA92-8619-4B20-9187-D0B386489607}"/>
              </a:ext>
            </a:extLst>
          </p:cNvPr>
          <p:cNvSpPr txBox="1"/>
          <p:nvPr/>
        </p:nvSpPr>
        <p:spPr>
          <a:xfrm>
            <a:off x="540002" y="4261127"/>
            <a:ext cx="3042520" cy="1025848"/>
          </a:xfrm>
          <a:prstGeom prst="rect">
            <a:avLst/>
          </a:prstGeom>
          <a:solidFill>
            <a:srgbClr val="30B5C5">
              <a:lumMod val="20000"/>
              <a:lumOff val="80000"/>
            </a:srgbClr>
          </a:solidFill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 sz="2000"/>
            </a:lvl1pPr>
          </a:lstStyle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在模拟器中演化量子线路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789316F-1C9B-4A0F-81CB-BDE9063687C7}"/>
              </a:ext>
            </a:extLst>
          </p:cNvPr>
          <p:cNvSpPr/>
          <p:nvPr/>
        </p:nvSpPr>
        <p:spPr>
          <a:xfrm>
            <a:off x="3716556" y="3235552"/>
            <a:ext cx="7898926" cy="307777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(circ)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59420E1-CD98-47C1-B555-ACD2245882EB}"/>
              </a:ext>
            </a:extLst>
          </p:cNvPr>
          <p:cNvSpPr/>
          <p:nvPr/>
        </p:nvSpPr>
        <p:spPr>
          <a:xfrm>
            <a:off x="540002" y="5359395"/>
            <a:ext cx="1511300" cy="1015663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q0: ──H────Y──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q1: ──X───────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C5B337E-D646-4A57-B909-7CF45E06A6E3}"/>
              </a:ext>
            </a:extLst>
          </p:cNvPr>
          <p:cNvSpPr/>
          <p:nvPr/>
        </p:nvSpPr>
        <p:spPr>
          <a:xfrm>
            <a:off x="7082243" y="5350657"/>
            <a:ext cx="4543921" cy="1015663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mqvector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simulator with 2 qubits (little endian).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Current quantum state: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-√2/2j¦10⟩ √2/2j¦11⟩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3D8719A-3C17-4FF3-8BB3-95589E357671}"/>
              </a:ext>
            </a:extLst>
          </p:cNvPr>
          <p:cNvSpPr/>
          <p:nvPr/>
        </p:nvSpPr>
        <p:spPr>
          <a:xfrm>
            <a:off x="2208333" y="5355731"/>
            <a:ext cx="4734438" cy="1015663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circuit matrix: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[[0.+0.j 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0.+0.j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0.-0.70710678j 0.+0.70710678j]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[0.+0.j 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0.+0.j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0.+0.70710678j 0.+0.70710678j]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[0.-0.70710678j   0.+0.70710678j 0.+0.j 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0.+0.j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[0.+0.70710678j 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0.+0.70710678j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0.+0.j 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0.+0.j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 ]] 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61E5189-70FB-4C48-BDB9-615B1108D7FD}"/>
              </a:ext>
            </a:extLst>
          </p:cNvPr>
          <p:cNvSpPr/>
          <p:nvPr/>
        </p:nvSpPr>
        <p:spPr>
          <a:xfrm>
            <a:off x="8076980" y="16171"/>
            <a:ext cx="935635" cy="287888"/>
          </a:xfrm>
          <a:prstGeom prst="rect">
            <a:avLst/>
          </a:prstGeom>
          <a:solidFill>
            <a:schemeClr val="tx2">
              <a:lumMod val="85000"/>
            </a:schemeClr>
          </a:solidFill>
        </p:spPr>
        <p:txBody>
          <a:bodyPr lIns="0" tIns="0" rIns="0" bIns="0" anchor="ctr">
            <a:noAutofit/>
          </a:bodyPr>
          <a:lstStyle/>
          <a:p>
            <a:pPr marL="0" marR="0" lvl="0" indent="0" algn="ctr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编程准备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4D887E3-48DE-4C9F-9ABE-D73BFE8704F0}"/>
              </a:ext>
            </a:extLst>
          </p:cNvPr>
          <p:cNvSpPr/>
          <p:nvPr/>
        </p:nvSpPr>
        <p:spPr>
          <a:xfrm>
            <a:off x="9012615" y="16171"/>
            <a:ext cx="1295494" cy="287888"/>
          </a:xfrm>
          <a:prstGeom prst="rect">
            <a:avLst/>
          </a:prstGeom>
          <a:solidFill>
            <a:schemeClr val="accent6"/>
          </a:solidFill>
        </p:spPr>
        <p:txBody>
          <a:bodyPr lIns="0" tIns="0" rIns="0" bIns="0" anchor="ctr">
            <a:noAutofit/>
          </a:bodyPr>
          <a:lstStyle/>
          <a:p>
            <a:pPr marL="0" marR="0" lvl="0" indent="0" algn="ctr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量子线路编程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CE9BD13-C40D-47A4-A4C7-8FE7ECC0D142}"/>
              </a:ext>
            </a:extLst>
          </p:cNvPr>
          <p:cNvSpPr/>
          <p:nvPr/>
        </p:nvSpPr>
        <p:spPr>
          <a:xfrm>
            <a:off x="10319987" y="16171"/>
            <a:ext cx="1295494" cy="287888"/>
          </a:xfrm>
          <a:prstGeom prst="rect">
            <a:avLst/>
          </a:prstGeom>
          <a:solidFill>
            <a:schemeClr val="tx2">
              <a:lumMod val="85000"/>
            </a:schemeClr>
          </a:solidFill>
        </p:spPr>
        <p:txBody>
          <a:bodyPr lIns="0" tIns="0" rIns="0" bIns="0" anchor="ctr">
            <a:noAutofit/>
          </a:bodyPr>
          <a:lstStyle/>
          <a:p>
            <a:pPr marL="0" marR="0" lvl="0" indent="0" algn="ctr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变分算法编程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CB4274BE-04C9-46A4-A6E6-076B8E54AFDD}"/>
              </a:ext>
            </a:extLst>
          </p:cNvPr>
          <p:cNvCxnSpPr/>
          <p:nvPr/>
        </p:nvCxnSpPr>
        <p:spPr>
          <a:xfrm>
            <a:off x="9012615" y="16171"/>
            <a:ext cx="0" cy="287888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E965A16F-56F3-4C80-9FC5-1E0090A9DB41}"/>
              </a:ext>
            </a:extLst>
          </p:cNvPr>
          <p:cNvCxnSpPr/>
          <p:nvPr/>
        </p:nvCxnSpPr>
        <p:spPr>
          <a:xfrm>
            <a:off x="10314047" y="16171"/>
            <a:ext cx="0" cy="287888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9F3D1796-5477-4A69-AC40-BD2A27C717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231020" y="1412456"/>
          <a:ext cx="1550382" cy="552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3" imgW="1551240" imgH="552600" progId="Package">
                  <p:embed/>
                </p:oleObj>
              </mc:Choice>
              <mc:Fallback>
                <p:oleObj name="包装程序外壳对象" showAsIcon="1" r:id="rId3" imgW="1551240" imgH="552600" progId="Package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9F3D1796-5477-4A69-AC40-BD2A27C717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31020" y="1412456"/>
                        <a:ext cx="1550382" cy="5522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矩形 34">
            <a:extLst>
              <a:ext uri="{FF2B5EF4-FFF2-40B4-BE49-F238E27FC236}">
                <a16:creationId xmlns:a16="http://schemas.microsoft.com/office/drawing/2014/main" id="{A6B22A0F-5B7B-4950-ACDE-3C4E06C3F26E}"/>
              </a:ext>
            </a:extLst>
          </p:cNvPr>
          <p:cNvSpPr/>
          <p:nvPr/>
        </p:nvSpPr>
        <p:spPr>
          <a:xfrm>
            <a:off x="540002" y="6583773"/>
            <a:ext cx="1668331" cy="30765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方正兰亭黑简体" panose="02000000000000000000" pitchFamily="2" charset="-122"/>
                <a:cs typeface="+mn-cs"/>
              </a:rPr>
              <a:t>mindquantum</a:t>
            </a:r>
            <a:r>
              <a:rPr kumimoji="0" lang="en-US" altLang="zh-CN" sz="1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方正兰亭黑简体" panose="02000000000000000000" pitchFamily="2" charset="-122"/>
                <a:cs typeface="+mn-cs"/>
              </a:rPr>
              <a:t> 0.8.0 </a:t>
            </a:r>
            <a:endParaRPr kumimoji="0" lang="zh-CN" altLang="en-US" sz="1399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41EF40C-ABD0-480C-9287-68E26402B246}"/>
              </a:ext>
            </a:extLst>
          </p:cNvPr>
          <p:cNvSpPr txBox="1"/>
          <p:nvPr/>
        </p:nvSpPr>
        <p:spPr>
          <a:xfrm>
            <a:off x="3716556" y="4260423"/>
            <a:ext cx="7909608" cy="276999"/>
          </a:xfrm>
          <a:prstGeom prst="rect">
            <a:avLst/>
          </a:prstGeom>
          <a:solidFill>
            <a:srgbClr val="30B5C5">
              <a:lumMod val="20000"/>
              <a:lumOff val="80000"/>
            </a:srgb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/>
            </a:lvl1pPr>
          </a:lstStyle>
          <a:p>
            <a:pPr marL="285750" indent="-285750" algn="l" defTabSz="914400">
              <a:buFont typeface="Arial" panose="020B0604020202020204" pitchFamily="34" charset="0"/>
              <a:buChar char="•"/>
              <a:defRPr/>
            </a:pP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 </a:t>
            </a:r>
            <a:r>
              <a:rPr lang="en-US" altLang="zh-CN" sz="1200" kern="0" dirty="0">
                <a:solidFill>
                  <a:srgbClr val="1D1D1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Simulator </a:t>
            </a: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1200" kern="0" dirty="0" err="1">
                <a:solidFill>
                  <a:srgbClr val="1D1D1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apply_circuit</a:t>
            </a:r>
            <a:r>
              <a:rPr lang="en-US" altLang="zh-CN" sz="1200" kern="0" dirty="0">
                <a:solidFill>
                  <a:srgbClr val="1D1D1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() </a:t>
            </a: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接口可以将量子线路作用在量子比特上，使量子态发生演化。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744A7A2-84B0-4126-A448-EFCAF2906122}"/>
              </a:ext>
            </a:extLst>
          </p:cNvPr>
          <p:cNvSpPr txBox="1"/>
          <p:nvPr/>
        </p:nvSpPr>
        <p:spPr>
          <a:xfrm>
            <a:off x="3714925" y="1946269"/>
            <a:ext cx="7900555" cy="276999"/>
          </a:xfrm>
          <a:prstGeom prst="rect">
            <a:avLst/>
          </a:prstGeom>
          <a:solidFill>
            <a:srgbClr val="30B5C5">
              <a:lumMod val="20000"/>
              <a:lumOff val="80000"/>
            </a:srgb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/>
            </a:lvl1pPr>
          </a:lstStyle>
          <a:p>
            <a:pPr marL="285750" indent="-285750" algn="l" defTabSz="914400">
              <a:buFont typeface="Arial" panose="020B0604020202020204" pitchFamily="34" charset="0"/>
              <a:buChar char="•"/>
              <a:defRPr/>
            </a:pP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1200" kern="0" dirty="0">
                <a:solidFill>
                  <a:srgbClr val="1D1D1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+=</a:t>
            </a:r>
            <a:r>
              <a:rPr lang="en-US" altLang="zh-CN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的方式可以轻松地将量子门添加到量子线路中。</a:t>
            </a:r>
            <a:endParaRPr lang="en-US" altLang="zh-CN" sz="120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468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D28CA4C-B625-4F1D-B2FB-6B7B90C0EFDF}"/>
              </a:ext>
            </a:extLst>
          </p:cNvPr>
          <p:cNvSpPr txBox="1"/>
          <p:nvPr/>
        </p:nvSpPr>
        <p:spPr>
          <a:xfrm>
            <a:off x="540001" y="1082621"/>
            <a:ext cx="1785509" cy="738663"/>
          </a:xfrm>
          <a:prstGeom prst="rect">
            <a:avLst/>
          </a:prstGeom>
          <a:solidFill>
            <a:srgbClr val="30B5C5">
              <a:lumMod val="20000"/>
              <a:lumOff val="80000"/>
            </a:srgbClr>
          </a:solidFill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 sz="2000"/>
            </a:lvl1pPr>
          </a:lstStyle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导入依赖包</a:t>
            </a:r>
          </a:p>
        </p:txBody>
      </p:sp>
      <p:sp>
        <p:nvSpPr>
          <p:cNvPr id="6" name="文本框 31">
            <a:extLst>
              <a:ext uri="{FF2B5EF4-FFF2-40B4-BE49-F238E27FC236}">
                <a16:creationId xmlns:a16="http://schemas.microsoft.com/office/drawing/2014/main" id="{963C9EF0-5CF9-4618-B175-47065C34F1E4}"/>
              </a:ext>
            </a:extLst>
          </p:cNvPr>
          <p:cNvSpPr txBox="1"/>
          <p:nvPr/>
        </p:nvSpPr>
        <p:spPr>
          <a:xfrm>
            <a:off x="539996" y="1910375"/>
            <a:ext cx="1785509" cy="954107"/>
          </a:xfrm>
          <a:prstGeom prst="rect">
            <a:avLst/>
          </a:prstGeom>
          <a:solidFill>
            <a:srgbClr val="30B5C5">
              <a:lumMod val="20000"/>
              <a:lumOff val="80000"/>
            </a:srgbClr>
          </a:solidFill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添加量子门</a:t>
            </a:r>
          </a:p>
        </p:txBody>
      </p:sp>
      <p:sp>
        <p:nvSpPr>
          <p:cNvPr id="13" name="副标题 12">
            <a:extLst>
              <a:ext uri="{FF2B5EF4-FFF2-40B4-BE49-F238E27FC236}">
                <a16:creationId xmlns:a16="http://schemas.microsoft.com/office/drawing/2014/main" id="{F82F5E8C-8975-4BBC-8A15-E8412D2866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zh-CN" altLang="en-US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编程实践：量子测量</a:t>
            </a:r>
            <a:endParaRPr lang="zh-CN" altLang="en-US" dirty="0">
              <a:solidFill>
                <a:srgbClr val="1D1D1A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63AD128-1263-4FC9-AB68-14D4956FC441}"/>
              </a:ext>
            </a:extLst>
          </p:cNvPr>
          <p:cNvSpPr/>
          <p:nvPr/>
        </p:nvSpPr>
        <p:spPr>
          <a:xfrm>
            <a:off x="540002" y="6583773"/>
            <a:ext cx="1668331" cy="30765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l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方正兰亭黑简体" panose="02000000000000000000" pitchFamily="2" charset="-122"/>
                <a:cs typeface="+mn-cs"/>
              </a:rPr>
              <a:t>mindquantum</a:t>
            </a:r>
            <a:r>
              <a:rPr kumimoji="0" lang="en-US" altLang="zh-CN" sz="13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/>
                <a:ea typeface="方正兰亭黑简体" panose="02000000000000000000" pitchFamily="2" charset="-122"/>
                <a:cs typeface="+mn-cs"/>
              </a:rPr>
              <a:t> 0.8.0 </a:t>
            </a:r>
            <a:endParaRPr kumimoji="0" lang="zh-CN" altLang="en-US" sz="1399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73FAF50E-C49B-42DF-AD00-67AE1906EA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89620" y="1590256"/>
          <a:ext cx="1550382" cy="552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3" imgW="1551240" imgH="552600" progId="Package">
                  <p:embed/>
                </p:oleObj>
              </mc:Choice>
              <mc:Fallback>
                <p:oleObj name="包装程序外壳对象" showAsIcon="1" r:id="rId3" imgW="1551240" imgH="552600" progId="Package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73FAF50E-C49B-42DF-AD00-67AE1906EA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89620" y="1590256"/>
                        <a:ext cx="1550382" cy="5522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B9104003-D53E-498A-A44D-1B44B23A2B2C}"/>
              </a:ext>
            </a:extLst>
          </p:cNvPr>
          <p:cNvSpPr/>
          <p:nvPr/>
        </p:nvSpPr>
        <p:spPr>
          <a:xfrm>
            <a:off x="8076980" y="16171"/>
            <a:ext cx="935635" cy="287888"/>
          </a:xfrm>
          <a:prstGeom prst="rect">
            <a:avLst/>
          </a:prstGeom>
          <a:solidFill>
            <a:schemeClr val="tx2">
              <a:lumMod val="85000"/>
            </a:schemeClr>
          </a:solidFill>
        </p:spPr>
        <p:txBody>
          <a:bodyPr lIns="0" tIns="0" rIns="0" bIns="0" anchor="ctr">
            <a:noAutofit/>
          </a:bodyPr>
          <a:lstStyle/>
          <a:p>
            <a:pPr marL="0" marR="0" lvl="0" indent="0" algn="ctr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编程准备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A760CF-6F30-40A5-96F7-36EC15E62E5A}"/>
              </a:ext>
            </a:extLst>
          </p:cNvPr>
          <p:cNvSpPr/>
          <p:nvPr/>
        </p:nvSpPr>
        <p:spPr>
          <a:xfrm>
            <a:off x="9012615" y="16171"/>
            <a:ext cx="1295494" cy="287888"/>
          </a:xfrm>
          <a:prstGeom prst="rect">
            <a:avLst/>
          </a:prstGeom>
          <a:solidFill>
            <a:schemeClr val="accent6"/>
          </a:solidFill>
        </p:spPr>
        <p:txBody>
          <a:bodyPr lIns="0" tIns="0" rIns="0" bIns="0" anchor="ctr">
            <a:noAutofit/>
          </a:bodyPr>
          <a:lstStyle/>
          <a:p>
            <a:pPr marL="0" marR="0" lvl="0" indent="0" algn="ctr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量子线路编程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65BF93B-E904-4797-A7D5-54E885AA6461}"/>
              </a:ext>
            </a:extLst>
          </p:cNvPr>
          <p:cNvSpPr/>
          <p:nvPr/>
        </p:nvSpPr>
        <p:spPr>
          <a:xfrm>
            <a:off x="10319987" y="16171"/>
            <a:ext cx="1295494" cy="287888"/>
          </a:xfrm>
          <a:prstGeom prst="rect">
            <a:avLst/>
          </a:prstGeom>
          <a:solidFill>
            <a:schemeClr val="tx2">
              <a:lumMod val="85000"/>
            </a:schemeClr>
          </a:solidFill>
        </p:spPr>
        <p:txBody>
          <a:bodyPr lIns="0" tIns="0" rIns="0" bIns="0" anchor="ctr">
            <a:noAutofit/>
          </a:bodyPr>
          <a:lstStyle/>
          <a:p>
            <a:pPr marL="0" marR="0" lvl="0" indent="0" algn="ctr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变分算法编程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96A86A9-C7EB-4DFC-9BF0-FA5624570CAF}"/>
              </a:ext>
            </a:extLst>
          </p:cNvPr>
          <p:cNvCxnSpPr/>
          <p:nvPr/>
        </p:nvCxnSpPr>
        <p:spPr>
          <a:xfrm>
            <a:off x="9012615" y="16171"/>
            <a:ext cx="0" cy="287888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47E5CB9-6865-4432-8B5C-FACBA4E53CB2}"/>
              </a:ext>
            </a:extLst>
          </p:cNvPr>
          <p:cNvCxnSpPr/>
          <p:nvPr/>
        </p:nvCxnSpPr>
        <p:spPr>
          <a:xfrm>
            <a:off x="10314047" y="16171"/>
            <a:ext cx="0" cy="287888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8C7D0EA5-47CD-490B-B2E8-FECB79192F62}"/>
              </a:ext>
            </a:extLst>
          </p:cNvPr>
          <p:cNvSpPr txBox="1"/>
          <p:nvPr/>
        </p:nvSpPr>
        <p:spPr>
          <a:xfrm>
            <a:off x="540001" y="4106243"/>
            <a:ext cx="1785509" cy="1158802"/>
          </a:xfrm>
          <a:prstGeom prst="rect">
            <a:avLst/>
          </a:prstGeom>
          <a:solidFill>
            <a:srgbClr val="30B5C5">
              <a:lumMod val="20000"/>
              <a:lumOff val="80000"/>
            </a:srgbClr>
          </a:solidFill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 sz="2000"/>
            </a:lvl1pPr>
          </a:lstStyle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对测量结果进行多次采样</a:t>
            </a:r>
          </a:p>
        </p:txBody>
      </p:sp>
      <p:sp>
        <p:nvSpPr>
          <p:cNvPr id="25" name="文本框 31">
            <a:extLst>
              <a:ext uri="{FF2B5EF4-FFF2-40B4-BE49-F238E27FC236}">
                <a16:creationId xmlns:a16="http://schemas.microsoft.com/office/drawing/2014/main" id="{7BAA29D6-1728-4164-8C50-57959989F39F}"/>
              </a:ext>
            </a:extLst>
          </p:cNvPr>
          <p:cNvSpPr txBox="1"/>
          <p:nvPr/>
        </p:nvSpPr>
        <p:spPr>
          <a:xfrm>
            <a:off x="540000" y="2985073"/>
            <a:ext cx="1785509" cy="1010248"/>
          </a:xfrm>
          <a:prstGeom prst="rect">
            <a:avLst/>
          </a:prstGeom>
          <a:solidFill>
            <a:srgbClr val="30B5C5">
              <a:lumMod val="20000"/>
              <a:lumOff val="80000"/>
            </a:srgbClr>
          </a:solidFill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添加量子测量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44AD8E-B31C-4405-BCA4-D59D9940AC7F}"/>
              </a:ext>
            </a:extLst>
          </p:cNvPr>
          <p:cNvSpPr/>
          <p:nvPr/>
        </p:nvSpPr>
        <p:spPr>
          <a:xfrm>
            <a:off x="2607731" y="1082622"/>
            <a:ext cx="8879645" cy="738664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from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mindquantum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core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gates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6F42C1"/>
                </a:solidFill>
                <a:latin typeface="Consolas" panose="020B0609020204030204" pitchFamily="49" charset="0"/>
              </a:rPr>
              <a:t>Measure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H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X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Y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导入量子门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X, Y, H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和量子测量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Measure</a:t>
            </a:r>
            <a:endParaRPr lang="en-US" altLang="zh-CN" sz="1400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from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mindquantum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core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circuit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6F42C1"/>
                </a:solidFill>
                <a:latin typeface="Consolas" panose="020B0609020204030204" pitchFamily="49" charset="0"/>
              </a:rPr>
              <a:t>Circuit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       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导入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Circuit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模块，用于搭建量子线路</a:t>
            </a:r>
            <a:endParaRPr lang="zh-CN" altLang="en-US" sz="1400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from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mindquantum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simulator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6F42C1"/>
                </a:solidFill>
                <a:latin typeface="Consolas" panose="020B0609020204030204" pitchFamily="49" charset="0"/>
              </a:rPr>
              <a:t>Simulator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        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导入模拟器</a:t>
            </a:r>
            <a:endParaRPr lang="zh-CN" altLang="en-US" sz="1400" dirty="0">
              <a:solidFill>
                <a:srgbClr val="24292E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7412555-74D8-4D0B-BD24-BACED3CAC19F}"/>
              </a:ext>
            </a:extLst>
          </p:cNvPr>
          <p:cNvSpPr/>
          <p:nvPr/>
        </p:nvSpPr>
        <p:spPr>
          <a:xfrm>
            <a:off x="2607726" y="1910376"/>
            <a:ext cx="8879643" cy="954107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circ </a:t>
            </a:r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6F42C1"/>
                </a:solidFill>
                <a:latin typeface="Consolas" panose="020B0609020204030204" pitchFamily="49" charset="0"/>
              </a:rPr>
              <a:t>Circuit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()            		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实例化一个量子线路</a:t>
            </a:r>
            <a:endParaRPr lang="zh-CN" altLang="en-US" sz="1400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circ 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+=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5CC5"/>
                </a:solidFill>
                <a:latin typeface="Consolas" panose="020B0609020204030204" pitchFamily="49" charset="0"/>
              </a:rPr>
              <a:t>H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on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)             		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在线路上的第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0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个比特添加一个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H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门</a:t>
            </a:r>
            <a:endParaRPr lang="zh-CN" altLang="en-US" sz="1400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circ 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+=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5CC5"/>
                </a:solidFill>
                <a:latin typeface="Consolas" panose="020B0609020204030204" pitchFamily="49" charset="0"/>
              </a:rPr>
              <a:t>Y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on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)             		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在线路上的第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0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个比特添加一个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Y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门 </a:t>
            </a:r>
            <a:endParaRPr lang="zh-CN" altLang="en-US" sz="1400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circ 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+=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5CC5"/>
                </a:solidFill>
                <a:latin typeface="Consolas" panose="020B0609020204030204" pitchFamily="49" charset="0"/>
              </a:rPr>
              <a:t>X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on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)             		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在线路上的第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个比特添加一个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X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门</a:t>
            </a:r>
            <a:endParaRPr lang="zh-CN" altLang="en-US" sz="1400" dirty="0">
              <a:solidFill>
                <a:srgbClr val="24292E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D8C1A80-0C13-45C2-8A1C-A2EE0AFB476E}"/>
              </a:ext>
            </a:extLst>
          </p:cNvPr>
          <p:cNvSpPr/>
          <p:nvPr/>
        </p:nvSpPr>
        <p:spPr>
          <a:xfrm>
            <a:off x="2607730" y="3256657"/>
            <a:ext cx="8879644" cy="738664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circ 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+=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6F42C1"/>
                </a:solidFill>
                <a:latin typeface="Consolas" panose="020B0609020204030204" pitchFamily="49" charset="0"/>
              </a:rPr>
              <a:t>Measure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().</a:t>
            </a:r>
            <a:r>
              <a:rPr lang="en-US" altLang="zh-CN" sz="1400" dirty="0">
                <a:solidFill>
                  <a:srgbClr val="6F42C1"/>
                </a:solidFill>
                <a:latin typeface="Consolas" panose="020B0609020204030204" pitchFamily="49" charset="0"/>
              </a:rPr>
              <a:t>on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0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)     		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在线路上的第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0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个比特添加一个测量</a:t>
            </a:r>
            <a:endParaRPr lang="zh-CN" altLang="en-US" sz="1400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circ 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+=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6F42C1"/>
                </a:solidFill>
                <a:latin typeface="Consolas" panose="020B0609020204030204" pitchFamily="49" charset="0"/>
              </a:rPr>
              <a:t>Measure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().</a:t>
            </a:r>
            <a:r>
              <a:rPr lang="en-US" altLang="zh-CN" sz="1400" dirty="0">
                <a:solidFill>
                  <a:srgbClr val="6F42C1"/>
                </a:solidFill>
                <a:latin typeface="Consolas" panose="020B0609020204030204" pitchFamily="49" charset="0"/>
              </a:rPr>
              <a:t>on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)     		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在线路上的第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个比特添加一个测量</a:t>
            </a:r>
            <a:br>
              <a:rPr lang="zh-CN" altLang="en-US" sz="1400" dirty="0">
                <a:solidFill>
                  <a:srgbClr val="24292E"/>
                </a:solidFill>
                <a:latin typeface="Consolas" panose="020B0609020204030204" pitchFamily="49" charset="0"/>
              </a:rPr>
            </a:b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(circ)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F7CA39F-4073-4F9C-91A7-352A98B919E9}"/>
              </a:ext>
            </a:extLst>
          </p:cNvPr>
          <p:cNvSpPr/>
          <p:nvPr/>
        </p:nvSpPr>
        <p:spPr>
          <a:xfrm>
            <a:off x="2607727" y="4575385"/>
            <a:ext cx="8879642" cy="738664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sim </a:t>
            </a:r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6F42C1"/>
                </a:solidFill>
                <a:latin typeface="Consolas" panose="020B0609020204030204" pitchFamily="49" charset="0"/>
              </a:rPr>
              <a:t>Simulator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32F62"/>
                </a:solidFill>
                <a:latin typeface="Consolas" panose="020B0609020204030204" pitchFamily="49" charset="0"/>
              </a:rPr>
              <a:t>'</a:t>
            </a:r>
            <a:r>
              <a:rPr lang="en-US" altLang="zh-CN" sz="1400" dirty="0" err="1">
                <a:solidFill>
                  <a:srgbClr val="032F62"/>
                </a:solidFill>
                <a:latin typeface="Consolas" panose="020B0609020204030204" pitchFamily="49" charset="0"/>
              </a:rPr>
              <a:t>mqvector</a:t>
            </a:r>
            <a:r>
              <a:rPr lang="en-US" altLang="zh-CN" sz="1400" dirty="0">
                <a:solidFill>
                  <a:srgbClr val="032F62"/>
                </a:solidFill>
                <a:latin typeface="Consolas" panose="020B0609020204030204" pitchFamily="49" charset="0"/>
              </a:rPr>
              <a:t>'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)          	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实例化一个两比特的模拟器</a:t>
            </a:r>
            <a:endParaRPr lang="zh-CN" altLang="en-US" sz="1400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result </a:t>
            </a:r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24292E"/>
                </a:solidFill>
                <a:latin typeface="Consolas" panose="020B0609020204030204" pitchFamily="49" charset="0"/>
              </a:rPr>
              <a:t>sim.</a:t>
            </a:r>
            <a:r>
              <a:rPr lang="en-US" altLang="zh-CN" sz="1400" dirty="0" err="1">
                <a:solidFill>
                  <a:srgbClr val="6F42C1"/>
                </a:solidFill>
                <a:latin typeface="Consolas" panose="020B0609020204030204" pitchFamily="49" charset="0"/>
              </a:rPr>
              <a:t>sampling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(circ, </a:t>
            </a:r>
            <a:r>
              <a:rPr lang="en-US" altLang="zh-CN" sz="1400" dirty="0">
                <a:solidFill>
                  <a:srgbClr val="E36209"/>
                </a:solidFill>
                <a:latin typeface="Consolas" panose="020B0609020204030204" pitchFamily="49" charset="0"/>
              </a:rPr>
              <a:t>shots</a:t>
            </a:r>
            <a:r>
              <a:rPr lang="en-US" altLang="zh-CN" sz="1400" dirty="0">
                <a:solidFill>
                  <a:srgbClr val="D73A49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dirty="0">
                <a:solidFill>
                  <a:srgbClr val="005CC5"/>
                </a:solidFill>
                <a:latin typeface="Consolas" panose="020B0609020204030204" pitchFamily="49" charset="0"/>
              </a:rPr>
              <a:t>1000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) 	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对该线路的演化结果进行</a:t>
            </a:r>
            <a:r>
              <a:rPr lang="en-US" altLang="zh-CN" sz="1400" dirty="0">
                <a:solidFill>
                  <a:srgbClr val="6A737D"/>
                </a:solidFill>
                <a:latin typeface="Consolas" panose="020B0609020204030204" pitchFamily="49" charset="0"/>
              </a:rPr>
              <a:t>1000</a:t>
            </a:r>
            <a:r>
              <a:rPr lang="zh-CN" altLang="en-US" sz="1400" dirty="0">
                <a:solidFill>
                  <a:srgbClr val="6A737D"/>
                </a:solidFill>
                <a:latin typeface="Consolas" panose="020B0609020204030204" pitchFamily="49" charset="0"/>
              </a:rPr>
              <a:t>次采样</a:t>
            </a:r>
            <a:endParaRPr lang="zh-CN" altLang="en-US" sz="1400" dirty="0">
              <a:solidFill>
                <a:srgbClr val="24292E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6F42C1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sz="1400" dirty="0">
                <a:solidFill>
                  <a:srgbClr val="24292E"/>
                </a:solidFill>
                <a:latin typeface="Consolas" panose="020B0609020204030204" pitchFamily="49" charset="0"/>
              </a:rPr>
              <a:t>(result)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FA89B7A-9E8F-40DA-9541-793830F1CF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2013" y="5430692"/>
            <a:ext cx="2896094" cy="82917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7B22C59-BA98-4B90-BBC8-468AA1D577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2833" y="5404400"/>
            <a:ext cx="4877154" cy="1333201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8613A7B1-7B8B-4835-A574-3D7404B93494}"/>
              </a:ext>
            </a:extLst>
          </p:cNvPr>
          <p:cNvSpPr txBox="1"/>
          <p:nvPr/>
        </p:nvSpPr>
        <p:spPr>
          <a:xfrm>
            <a:off x="2607726" y="2985073"/>
            <a:ext cx="8879645" cy="276999"/>
          </a:xfrm>
          <a:prstGeom prst="rect">
            <a:avLst/>
          </a:prstGeom>
          <a:solidFill>
            <a:srgbClr val="30B5C5">
              <a:lumMod val="20000"/>
              <a:lumOff val="80000"/>
            </a:srgb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/>
            </a:lvl1pPr>
          </a:lstStyle>
          <a:p>
            <a:pPr marL="285750" indent="-285750" algn="l" defTabSz="914400">
              <a:buFont typeface="Arial" panose="020B0604020202020204" pitchFamily="34" charset="0"/>
              <a:buChar char="•"/>
              <a:defRPr/>
            </a:pPr>
            <a:r>
              <a:rPr lang="en-US" altLang="zh-CN" sz="1200" kern="0" dirty="0">
                <a:solidFill>
                  <a:srgbClr val="1D1D1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Measure </a:t>
            </a: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与量子门类似，可以用“</a:t>
            </a:r>
            <a:r>
              <a:rPr lang="en-US" altLang="zh-CN" sz="1200" kern="0" dirty="0">
                <a:solidFill>
                  <a:srgbClr val="1D1D1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+=</a:t>
            </a: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”的方式添加到量子线路中，用 </a:t>
            </a:r>
            <a:r>
              <a:rPr lang="en-US" altLang="zh-CN" sz="1200" kern="0" dirty="0">
                <a:solidFill>
                  <a:srgbClr val="1D1D1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on() </a:t>
            </a: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方法指定目标比特。</a:t>
            </a:r>
            <a:endParaRPr lang="en-US" altLang="zh-CN" sz="120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5E14482-164C-4050-9562-054EE70113AD}"/>
              </a:ext>
            </a:extLst>
          </p:cNvPr>
          <p:cNvSpPr txBox="1"/>
          <p:nvPr/>
        </p:nvSpPr>
        <p:spPr>
          <a:xfrm>
            <a:off x="2607727" y="4106243"/>
            <a:ext cx="8879642" cy="461665"/>
          </a:xfrm>
          <a:prstGeom prst="rect">
            <a:avLst/>
          </a:prstGeom>
          <a:solidFill>
            <a:srgbClr val="30B5C5">
              <a:lumMod val="20000"/>
              <a:lumOff val="80000"/>
            </a:srgb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/>
            </a:lvl1pPr>
          </a:lstStyle>
          <a:p>
            <a:pPr marL="285750" indent="-285750" algn="l" defTabSz="914400">
              <a:buFont typeface="Arial" panose="020B0604020202020204" pitchFamily="34" charset="0"/>
              <a:buChar char="•"/>
              <a:defRPr/>
            </a:pP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 </a:t>
            </a:r>
            <a:r>
              <a:rPr lang="en-US" altLang="zh-CN" sz="1200" kern="0" dirty="0">
                <a:solidFill>
                  <a:srgbClr val="1D1D1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Simulator </a:t>
            </a: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1200" kern="0" dirty="0">
                <a:solidFill>
                  <a:srgbClr val="1D1D1A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sampling() </a:t>
            </a: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接口可以对某一线路的演化结果进行多次采样，获得量子测量的统计结果。</a:t>
            </a:r>
            <a:endParaRPr lang="en-US" altLang="zh-CN" sz="120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 defTabSz="914400">
              <a:buFont typeface="Arial" panose="020B0604020202020204" pitchFamily="34" charset="0"/>
              <a:buChar char="•"/>
              <a:defRPr/>
            </a:pPr>
            <a:r>
              <a:rPr lang="zh-CN" altLang="en-US" sz="12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这一过程与真实量子计算机的运行方式相似。</a:t>
            </a:r>
          </a:p>
        </p:txBody>
      </p:sp>
    </p:spTree>
    <p:extLst>
      <p:ext uri="{BB962C8B-B14F-4D97-AF65-F5344CB8AC3E}">
        <p14:creationId xmlns:p14="http://schemas.microsoft.com/office/powerpoint/2010/main" val="3148648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D365545-29B1-4778-97D1-822E8EE11D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2799" dirty="0">
                <a:solidFill>
                  <a:prstClr val="black"/>
                </a:solidFill>
              </a:rPr>
              <a:t>课后作业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8B26CEE-2345-40B9-826B-C3D83B6C7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820" y="2539387"/>
            <a:ext cx="6317052" cy="23840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8A94C23-BBF6-44EC-88A8-88F5F4B864E2}"/>
              </a:ext>
            </a:extLst>
          </p:cNvPr>
          <p:cNvSpPr txBox="1"/>
          <p:nvPr/>
        </p:nvSpPr>
        <p:spPr>
          <a:xfrm>
            <a:off x="1456649" y="1053472"/>
            <a:ext cx="8976853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AutoNum type="arabicPeriod"/>
            </a:pPr>
            <a:r>
              <a:rPr kumimoji="1" lang="zh-CN" altLang="en-US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请搭建出如下线路。</a:t>
            </a:r>
            <a:endParaRPr kumimoji="1" lang="en-US" altLang="zh-CN" sz="1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 algn="l">
              <a:buAutoNum type="arabicPeriod"/>
            </a:pPr>
            <a:r>
              <a:rPr kumimoji="1" lang="zh-CN" altLang="en-US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请打印线路运行后的量子态。</a:t>
            </a:r>
            <a:endParaRPr kumimoji="1" lang="en-US" altLang="zh-CN" sz="1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 algn="l">
              <a:buAutoNum type="arabicPeriod"/>
            </a:pPr>
            <a:r>
              <a:rPr kumimoji="1" lang="zh-CN" altLang="en-US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请在线路末尾添加测量，并采样线路运行结果</a:t>
            </a:r>
            <a:r>
              <a:rPr kumimoji="1" lang="en-US" altLang="zh-CN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10000</a:t>
            </a:r>
            <a:r>
              <a:rPr kumimoji="1" lang="zh-CN" altLang="en-US" sz="1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次，观察得到的分布。</a:t>
            </a:r>
            <a:endParaRPr kumimoji="1" lang="en-US" altLang="zh-CN" sz="1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l"/>
            <a:endParaRPr kumimoji="1" lang="en-US" altLang="zh-CN" sz="1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7730B7F-DE0A-4D02-9EDB-F0F9E347F950}"/>
                  </a:ext>
                </a:extLst>
              </p:cNvPr>
              <p:cNvSpPr/>
              <p:nvPr/>
            </p:nvSpPr>
            <p:spPr>
              <a:xfrm>
                <a:off x="2726511" y="1902556"/>
                <a:ext cx="818043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1600" dirty="0">
                    <a:solidFill>
                      <a:srgbClr val="000000"/>
                    </a:solidFill>
                    <a:ea typeface="Microsoft YaHei" panose="020B0503020204020204" pitchFamily="34" charset="-122"/>
                  </a:rPr>
                  <a:t>是</a:t>
                </a:r>
                <a:r>
                  <a:rPr kumimoji="1" lang="en-US" altLang="zh-CN" sz="1600" dirty="0">
                    <a:solidFill>
                      <a:srgbClr val="000000"/>
                    </a:solidFill>
                    <a:ea typeface="Microsoft YaHei" panose="020B0503020204020204" pitchFamily="34" charset="-122"/>
                  </a:rPr>
                  <a:t>CNOT</a:t>
                </a:r>
                <a:r>
                  <a:rPr kumimoji="1" lang="zh-CN" altLang="en-US" sz="1600" dirty="0">
                    <a:solidFill>
                      <a:srgbClr val="000000"/>
                    </a:solidFill>
                    <a:ea typeface="Microsoft YaHei" panose="020B0503020204020204" pitchFamily="34" charset="-122"/>
                  </a:rPr>
                  <a:t>门，可以用</a:t>
                </a:r>
                <a:r>
                  <a:rPr kumimoji="1" lang="en-US" altLang="zh-CN" sz="1600" dirty="0" err="1">
                    <a:solidFill>
                      <a:srgbClr val="000000"/>
                    </a:solidFill>
                    <a:latin typeface="Consolas" panose="020B0609020204030204" pitchFamily="49" charset="0"/>
                    <a:ea typeface="Microsoft YaHei" panose="020B0503020204020204" pitchFamily="34" charset="-122"/>
                  </a:rPr>
                  <a:t>X.on</a:t>
                </a:r>
                <a:r>
                  <a:rPr kumimoji="1" lang="en-US" altLang="zh-CN" sz="1600" dirty="0">
                    <a:solidFill>
                      <a:srgbClr val="000000"/>
                    </a:solidFill>
                    <a:latin typeface="Consolas" panose="020B0609020204030204" pitchFamily="49" charset="0"/>
                    <a:ea typeface="Microsoft YaHei" panose="020B0503020204020204" pitchFamily="34" charset="-122"/>
                  </a:rPr>
                  <a:t>(q1, q0)</a:t>
                </a:r>
                <a:r>
                  <a:rPr kumimoji="1" lang="zh-CN" altLang="en-US" sz="1600" dirty="0">
                    <a:solidFill>
                      <a:srgbClr val="000000"/>
                    </a:solidFill>
                    <a:ea typeface="Microsoft YaHei" panose="020B0503020204020204" pitchFamily="34" charset="-122"/>
                  </a:rPr>
                  <a:t>实现。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𝛼</m:t>
                        </m:r>
                      </m:e>
                      <m:sub>
                        <m:r>
                          <a:rPr kumimoji="1"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kumimoji="1"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kumimoji="1"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𝛼</m:t>
                        </m:r>
                      </m:e>
                      <m:sub>
                        <m:r>
                          <a:rPr kumimoji="1"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kumimoji="1" lang="en-US" altLang="zh-C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 …,</m:t>
                    </m:r>
                    <m:sSub>
                      <m:sSubPr>
                        <m:ctrlPr>
                          <a:rPr kumimoji="1"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𝛼</m:t>
                        </m:r>
                      </m:e>
                      <m:sub>
                        <m:r>
                          <a:rPr kumimoji="1" lang="en-US" altLang="zh-C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6</m:t>
                        </m:r>
                      </m:sub>
                    </m:sSub>
                  </m:oMath>
                </a14:m>
                <a:r>
                  <a:rPr kumimoji="1" lang="zh-CN" altLang="en-US" sz="1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可以是任意值。</a:t>
                </a: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7730B7F-DE0A-4D02-9EDB-F0F9E347F9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511" y="1902556"/>
                <a:ext cx="8180438" cy="338554"/>
              </a:xfrm>
              <a:prstGeom prst="rect">
                <a:avLst/>
              </a:prstGeom>
              <a:blipFill>
                <a:blip r:embed="rId4"/>
                <a:stretch>
                  <a:fillRect l="-373" t="-7143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>
            <a:extLst>
              <a:ext uri="{FF2B5EF4-FFF2-40B4-BE49-F238E27FC236}">
                <a16:creationId xmlns:a16="http://schemas.microsoft.com/office/drawing/2014/main" id="{5D7DA70A-172A-44EF-A553-0017F77DF437}"/>
              </a:ext>
            </a:extLst>
          </p:cNvPr>
          <p:cNvGrpSpPr/>
          <p:nvPr/>
        </p:nvGrpSpPr>
        <p:grpSpPr>
          <a:xfrm>
            <a:off x="2155694" y="1793057"/>
            <a:ext cx="492452" cy="608129"/>
            <a:chOff x="2251042" y="1911686"/>
            <a:chExt cx="570817" cy="772632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424B1815-23C9-4BF0-8157-8576DD9F2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54913" y="1917925"/>
              <a:ext cx="266946" cy="766393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230B15D1-351C-485A-858C-3EABA25E98A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51042" y="1911686"/>
              <a:ext cx="291563" cy="766393"/>
            </a:xfrm>
            <a:prstGeom prst="rect">
              <a:avLst/>
            </a:prstGeom>
          </p:spPr>
        </p:pic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42E128C8-C1DF-4155-BDC3-2A6C9F4584DF}"/>
              </a:ext>
            </a:extLst>
          </p:cNvPr>
          <p:cNvSpPr/>
          <p:nvPr/>
        </p:nvSpPr>
        <p:spPr>
          <a:xfrm>
            <a:off x="1361301" y="1902556"/>
            <a:ext cx="79439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1600" dirty="0">
                <a:solidFill>
                  <a:srgbClr val="000000"/>
                </a:solidFill>
                <a:ea typeface="Microsoft YaHei" panose="020B0503020204020204" pitchFamily="34" charset="-122"/>
              </a:rPr>
              <a:t>其中，</a:t>
            </a:r>
            <a:endParaRPr kumimoji="1" lang="zh-CN" altLang="en-US" sz="1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55C1CF9-56B0-49D7-A7D4-5C901029B2DA}"/>
                  </a:ext>
                </a:extLst>
              </p:cNvPr>
              <p:cNvSpPr txBox="1"/>
              <p:nvPr/>
            </p:nvSpPr>
            <p:spPr>
              <a:xfrm>
                <a:off x="622979" y="5108973"/>
                <a:ext cx="10781424" cy="10772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zh-CN" altLang="en-US" sz="1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预期结果：对于随意的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𝛼</m:t>
                        </m:r>
                      </m:e>
                      <m:sub>
                        <m:r>
                          <a:rPr kumimoji="1" lang="en-US" altLang="zh-CN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kumimoji="1" lang="en-US" altLang="zh-CN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kumimoji="1" lang="en-US" altLang="zh-CN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𝛼</m:t>
                        </m:r>
                      </m:e>
                      <m:sub>
                        <m:r>
                          <a:rPr kumimoji="1" lang="en-US" altLang="zh-CN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kumimoji="1" lang="en-US" altLang="zh-CN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 …,</m:t>
                    </m:r>
                    <m:sSub>
                      <m:sSubPr>
                        <m:ctrlPr>
                          <a:rPr kumimoji="1" lang="en-US" altLang="zh-CN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𝛼</m:t>
                        </m:r>
                      </m:e>
                      <m:sub>
                        <m:r>
                          <a:rPr kumimoji="1" lang="en-US" altLang="zh-CN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6</m:t>
                        </m:r>
                      </m:sub>
                    </m:sSub>
                  </m:oMath>
                </a14:m>
                <a:r>
                  <a:rPr kumimoji="1" lang="zh-CN" altLang="en-US" sz="1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，运行线路后的量子态应该难以发现规律，但添加测量后采样</a:t>
                </a:r>
                <a:r>
                  <a:rPr kumimoji="1" lang="en-US" altLang="zh-CN" sz="1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10000</a:t>
                </a:r>
                <a:r>
                  <a:rPr kumimoji="1" lang="zh-CN" altLang="en-US" sz="1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次的统计结果却是近似均匀分布。</a:t>
                </a:r>
                <a:endParaRPr kumimoji="1" lang="en-US" altLang="zh-CN" sz="14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endParaRPr kumimoji="1" lang="en-US" altLang="zh-CN" sz="14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r>
                  <a:rPr kumimoji="1" lang="zh-CN" altLang="en-US" sz="1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解释：该线路是</a:t>
                </a:r>
                <a:r>
                  <a:rPr kumimoji="1" lang="en-US" altLang="zh-CN" sz="1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IQP</a:t>
                </a:r>
                <a:r>
                  <a:rPr kumimoji="1" lang="zh-CN" altLang="en-US" sz="1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编码线路，可以将经典信息编码到量子态上。当选取</a:t>
                </a:r>
                <a:r>
                  <a:rPr kumimoji="1" lang="en-US" altLang="zh-CN" sz="1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RZ</a:t>
                </a:r>
                <a:r>
                  <a:rPr kumimoji="1" lang="zh-CN" altLang="en-US" sz="1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门时，</a:t>
                </a:r>
                <a:r>
                  <a:rPr kumimoji="1" lang="en-US" altLang="zh-CN" sz="1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RZ</a:t>
                </a:r>
                <a:r>
                  <a:rPr kumimoji="1" lang="zh-CN" altLang="en-US" sz="1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门只会改变相位信息，而不会改变振幅信息，即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𝛼</m:t>
                        </m:r>
                      </m:e>
                      <m:sub>
                        <m:r>
                          <a:rPr kumimoji="1" lang="en-US" altLang="zh-CN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kumimoji="1" lang="en-US" altLang="zh-CN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kumimoji="1" lang="en-US" altLang="zh-CN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𝛼</m:t>
                        </m:r>
                      </m:e>
                      <m:sub>
                        <m:r>
                          <a:rPr kumimoji="1" lang="en-US" altLang="zh-CN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kumimoji="1" lang="en-US" altLang="zh-CN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 …,</m:t>
                    </m:r>
                    <m:sSub>
                      <m:sSubPr>
                        <m:ctrlPr>
                          <a:rPr kumimoji="1" lang="en-US" altLang="zh-CN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𝛼</m:t>
                        </m:r>
                      </m:e>
                      <m:sub>
                        <m:r>
                          <a:rPr kumimoji="1" lang="en-US" altLang="zh-CN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6</m:t>
                        </m:r>
                      </m:sub>
                    </m:sSub>
                  </m:oMath>
                </a14:m>
                <a:r>
                  <a:rPr kumimoji="1" lang="zh-CN" altLang="en-US" sz="1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的信息将被编码至相位上。量子态中包含了振幅和相位的完整信息，因此难以发现规律；而采样得到的分布只与量子态的振幅有关，因此呈现均匀分布。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55C1CF9-56B0-49D7-A7D4-5C901029B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79" y="5108973"/>
                <a:ext cx="10781424" cy="1077218"/>
              </a:xfrm>
              <a:prstGeom prst="rect">
                <a:avLst/>
              </a:prstGeom>
              <a:blipFill>
                <a:blip r:embed="rId7"/>
                <a:stretch>
                  <a:fillRect l="-1018" t="-5085" b="-90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05132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djMTJkYTlkNDU0NzIxNDE2MjNmMzQ2ZjMzODg0MmIifQ=="/>
</p:tagLst>
</file>

<file path=ppt/theme/theme1.xml><?xml version="1.0" encoding="utf-8"?>
<a:theme xmlns:a="http://schemas.openxmlformats.org/drawingml/2006/main" name="2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fidpmvyv">
      <a:majorFont>
        <a:latin typeface="Huawei Sans"/>
        <a:ea typeface="微软雅黑"/>
        <a:cs typeface=""/>
      </a:majorFont>
      <a:minorFont>
        <a:latin typeface="Huawei Sans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3.xml><?xml version="1.0" encoding="utf-8"?>
<a:theme xmlns:a="http://schemas.openxmlformats.org/drawingml/2006/main" name="3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4.xml><?xml version="1.0" encoding="utf-8"?>
<a:theme xmlns:a="http://schemas.openxmlformats.org/drawingml/2006/main" name="1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5.xml><?xml version="1.0" encoding="utf-8"?>
<a:theme xmlns:a="http://schemas.openxmlformats.org/drawingml/2006/main" name="4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6.xml><?xml version="1.0" encoding="utf-8"?>
<a:theme xmlns:a="http://schemas.openxmlformats.org/drawingml/2006/main" name="4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9E3EAF68-ABE1-42CC-9EED-BC9EE9E8453C}"/>
    </a:ext>
  </a:extLst>
</a:theme>
</file>

<file path=ppt/theme/theme8.xml><?xml version="1.0" encoding="utf-8"?>
<a:theme xmlns:a="http://schemas.openxmlformats.org/drawingml/2006/main" name="5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9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10.xml><?xml version="1.0" encoding="utf-8"?>
<a:theme xmlns:a="http://schemas.openxmlformats.org/drawingml/2006/main" name="9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fidpmvyv">
      <a:majorFont>
        <a:latin typeface="Huawei Sans" panose="020B0A04020102020204"/>
        <a:ea typeface="微软雅黑"/>
        <a:cs typeface=""/>
      </a:majorFont>
      <a:minorFont>
        <a:latin typeface="Huawei Sans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模板.pptx" id="{B4542FC2-A7B2-4ED3-BB20-F6750F3E246A}" vid="{200B2CC3-038E-4B68-ADA0-F89367E15FF9}"/>
    </a:ext>
  </a:extLst>
</a:theme>
</file>

<file path=ppt/theme/theme11.xml><?xml version="1.0" encoding="utf-8"?>
<a:theme xmlns:a="http://schemas.openxmlformats.org/drawingml/2006/main" name="26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fidpmvyv">
      <a:majorFont>
        <a:latin typeface="Huawei Sans" panose="020B0A04020102020204"/>
        <a:ea typeface="微软雅黑"/>
        <a:cs typeface=""/>
      </a:majorFont>
      <a:minorFont>
        <a:latin typeface="Huawei Sans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模板.pptx" id="{B4542FC2-A7B2-4ED3-BB20-F6750F3E246A}" vid="{200B2CC3-038E-4B68-ADA0-F89367E15FF9}"/>
    </a:ext>
  </a:extLst>
</a:theme>
</file>

<file path=ppt/theme/theme12.xml><?xml version="1.0" encoding="utf-8"?>
<a:theme xmlns:a="http://schemas.openxmlformats.org/drawingml/2006/main" name="8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9E3EAF68-ABE1-42CC-9EED-BC9EE9E8453C}"/>
    </a:ext>
  </a:extLst>
</a:theme>
</file>

<file path=ppt/theme/theme13.xml><?xml version="1.0" encoding="utf-8"?>
<a:theme xmlns:a="http://schemas.openxmlformats.org/drawingml/2006/main" name="ZHY-HW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14.xml><?xml version="1.0" encoding="utf-8"?>
<a:theme xmlns:a="http://schemas.openxmlformats.org/drawingml/2006/main" name="14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9E3EAF68-ABE1-42CC-9EED-BC9EE9E8453C}"/>
    </a:ext>
  </a:extLst>
</a:theme>
</file>

<file path=ppt/theme/theme15.xml><?xml version="1.0" encoding="utf-8"?>
<a:theme xmlns:a="http://schemas.openxmlformats.org/drawingml/2006/main" name="9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16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1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92680</TotalTime>
  <Words>2303</Words>
  <Application>Microsoft Macintosh PowerPoint</Application>
  <PresentationFormat>宽屏</PresentationFormat>
  <Paragraphs>227</Paragraphs>
  <Slides>11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16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41" baseType="lpstr">
      <vt:lpstr>.AppleSystemUIFont</vt:lpstr>
      <vt:lpstr>等线</vt:lpstr>
      <vt:lpstr>方正兰亭粗黑简体</vt:lpstr>
      <vt:lpstr>方正兰亭黑简体</vt:lpstr>
      <vt:lpstr>微软雅黑</vt:lpstr>
      <vt:lpstr>微软雅黑</vt:lpstr>
      <vt:lpstr>Huawei Sans</vt:lpstr>
      <vt:lpstr>Arial</vt:lpstr>
      <vt:lpstr>Calibri</vt:lpstr>
      <vt:lpstr>Calibri Light</vt:lpstr>
      <vt:lpstr>Cambria Math</vt:lpstr>
      <vt:lpstr>Consolas</vt:lpstr>
      <vt:lpstr>Wingdings</vt:lpstr>
      <vt:lpstr>2_Title Slide</vt:lpstr>
      <vt:lpstr>2_章节页</vt:lpstr>
      <vt:lpstr>3_章节页</vt:lpstr>
      <vt:lpstr>1_章节页</vt:lpstr>
      <vt:lpstr>4_章节页</vt:lpstr>
      <vt:lpstr>4_内容页模板</vt:lpstr>
      <vt:lpstr>6_章节页</vt:lpstr>
      <vt:lpstr>5_章节页</vt:lpstr>
      <vt:lpstr>7_章节页</vt:lpstr>
      <vt:lpstr>9_Chart page</vt:lpstr>
      <vt:lpstr>26_Chart page</vt:lpstr>
      <vt:lpstr>8_章节页</vt:lpstr>
      <vt:lpstr>ZHY-HW</vt:lpstr>
      <vt:lpstr>14_章节页</vt:lpstr>
      <vt:lpstr>9_章节页</vt:lpstr>
      <vt:lpstr>章节页</vt:lpstr>
      <vt:lpstr>包装程序外壳对象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准备Mind Quantum代码仓</dc:title>
  <dc:creator>lijunning</dc:creator>
  <cp:lastModifiedBy>周 俊园</cp:lastModifiedBy>
  <cp:revision>1487</cp:revision>
  <dcterms:created xsi:type="dcterms:W3CDTF">2019-06-19T02:08:00Z</dcterms:created>
  <dcterms:modified xsi:type="dcterms:W3CDTF">2023-10-21T04:10:16Z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2052-11.1.0.12300</vt:lpwstr>
  </property>
  <property fmtid="{D5CDD505-2E9C-101B-9397-08002B2CF9AE}" pid="3" name="ICV">
    <vt:lpwstr>4CCF4DD5CB144371AA1FF41BE8901C2F</vt:lpwstr>
  </property>
  <property fmtid="{D5CDD505-2E9C-101B-9397-08002B2CF9AE}" pid="4" name="_2015_ms_pID_725343">
    <vt:lpwstr>(3)OWGDGCkuPVUSbIudh3FoDDXD7w6pBH0lHjBU22vIEpgQv7wpjPOwyvCulEViIyran4vk/tui
Ihdd9YsTA3Iig8xNAs9FH2OhON6S5gy5G7geZYLvVdepo2Q4LxmZoDGUzXbi/HTnyac0eZFR
RZmWKznyql2YoDQ0JwyMhqdLW28PcIhmx/dC4uZjDUrhGSpIsL4bypVpP4HvN88MzMINulPN
AazDltQE/SAb1A8H/0</vt:lpwstr>
  </property>
  <property fmtid="{D5CDD505-2E9C-101B-9397-08002B2CF9AE}" pid="5" name="_2015_ms_pID_7253431">
    <vt:lpwstr>24M0PBuojc/6WO61BAvYu/0gWUd1EkcWpAZcAcsvB7YghOrlTQFvaG
5p1DwaE5J7sUuDAqBKxnuWV3zjdjjb5mSYJ4geCK9J0DFrw0SvSWqOAY2eL64XnMFBSo7hO8
USY1dWqP6vzdhgoaXcMDzECZeLOOORJ3mRLA/lCawblt+gd1OeDg+NGvIhCTjXjD7DUZbO7p
eOuQfteMAtqP9KKN+LIoKzH3i4n+iXT7SqFF</vt:lpwstr>
  </property>
  <property fmtid="{D5CDD505-2E9C-101B-9397-08002B2CF9AE}" pid="6" name="_2015_ms_pID_7253432">
    <vt:lpwstr>eA==</vt:lpwstr>
  </property>
  <property fmtid="{D5CDD505-2E9C-101B-9397-08002B2CF9AE}" pid="7" name="_readonly">
    <vt:lpwstr/>
  </property>
  <property fmtid="{D5CDD505-2E9C-101B-9397-08002B2CF9AE}" pid="8" name="_change">
    <vt:lpwstr/>
  </property>
  <property fmtid="{D5CDD505-2E9C-101B-9397-08002B2CF9AE}" pid="9" name="_full-control">
    <vt:lpwstr/>
  </property>
  <property fmtid="{D5CDD505-2E9C-101B-9397-08002B2CF9AE}" pid="10" name="sflag">
    <vt:lpwstr>1697766280</vt:lpwstr>
  </property>
</Properties>
</file>